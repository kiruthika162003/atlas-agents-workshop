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This morning was about what an agent is. This afternoon is about what happens after the demo: where you run it, how it copes with a crowd, how you keep it safe, and what it costs. Ideas first, then we deploy one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joined after lunch, I am Kiruthika, still Cindy at Starbucks. Data scientist at Bell Canada, Google Developer Expert. This morning we built an agent. This afternoon we do the part nobody puts in the demo video: making it survive other people.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works on my laptop. The most expensive sentence in software. One process, one machine, one user. Everything this afternoon is about what changes when that is no longer true.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change. Requests arrive at the same moment. Your app runs as several copies, so the second message from a user may land on a copy that never saw the first. Things fail: the model is busy, an API refuses, a machine restarts. And every call costs money, multiplied by every user. None of it is visible in a demo.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Google Cloud an agent has three natural homes. Agent Engine is the managed runtime: you hand over the agent and it brings sessions, memory and tracing. Cloud Run takes a container and scales it with traffic, down to zero. GKE is Kubernetes: you run the cluster and you get full control. Read it left to right as less to manage, then more to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which one. If it is a chat or an API with bursty traffic, start with Cloud Run. If you would rather not build session storage, memory and evaluation yourself, Agent Engine. Long batch work with nobody waiting, Cloud Run jobs. If the agent executes code it wrote, you want a sandbox, and that points to GKE. Same for a fleet of agents or your own models on GPUs. The agent code moves between them, so choose the simplest one that fits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Whichever home you choose, you will probably ship a container. A Dockerfile is a recipe. Start from a small Linux with Python. Install the dependencies before copying the code, so a one line change does not reinstall the world. Say what to run. And notice there is no API key in it. In the cloud the platform's own identity signs the calls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Cloud Run scale. Each instance takes a few requests at a time. That number is concurrency. When the running instances are full, it starts another, up to max instances, which is your ceiling and also the cap on your bill. With min instances at zero you pay nothing when idle, and the first visitor waits for an instance to boot. That wait is a cold start. Multiply concurrency by max instances and you know how many people fit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do not scale like websites. A page answers in milliseconds, so one instance serves hundreds of people. One agent turn holds a request open for ten or twenty seconds while the model works and tools run, so each instance can only take a few. And the slowest part is the model, which you do not run. You can add all the instances you like. If the model provider says wait, everyone waits.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bug that never raises an error. Asha's first message reaches one instance, which remembers her in its own memory. Her second message reaches another instance, which has never heard of her. Nothing crashes. No log line. She is simply forgotten. With one instance you never see it. With several you see it most of the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is to move the memory out of the instance into a store they all share: Firestore, a database, or the managed sessions that Agent Engine gives you. Real numbers from my rehearsal, twenty users at once. With memory inside the instance, three of twenty were remembered. With Firestore, nineteen. The twentieth was a request the platform refused because the room was full. Once instances hold nothing, the platform can add and remove them freely.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that bite. The model provider rate limits you, so you need retries or reserved capacity. Cold starts make the first user wait. A single turn can outlast a timeout, so stream progress back. Free third party APIs throttle or block traffic from shared cloud addresses. And at max instances, new requests are refused. I met four of these five rehearsing this workshop: rate limits, cold starts, a blocked API and the ceiling.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the deployment version. Private by default, so nobody calls it without proving who they are. No secrets baked into the image. A service account that can reach the model and the database and nothing else. A max instances ceiling and a budget alert, because a public URL is a public wallet. Guardrails on what comes in and on what the agent wants to do. And traces of every step.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it is live, four dials. Latency per step, so you know whether the model or a tool is the slow one. Tokens per turn, which is your cost and an early warning that the context is bloating. Tool error rate, because someone else's API will start refusing you one day. And instance count against your ceiling. One tip: never trust the average. Look at the slowest request in twenty.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Scaled to zero, you pay nothing while nobody is using it. You pay for instance time while serving, for model tokens on every step, for search grounding per request where you use it, and a little for storage. A practical rule: when you load test, send a cheap question. The load test should stress your infrastructure, not your credit card.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honest slide. Things the whole industry is still working out. How do you evaluate something that answers differently each time. Capacity, because your real limit is often the model provider's. Identity: which agent is calling, for which user, with which rights. Cost you can predict. And security, where OWASP now has a top ten just for agents. If you are stuck on one of these, so is everyone else.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lines to take home. Container with no secrets. Chats in a shared store. Concurrency and max instances chosen on purpose. Retries. Private or behind real sign in. A budget alert somebody actually reads. Traces. And a load test with a cheap question. Now let us go and tick them off on a real service.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afternoon. A container makes your agent portable. A platform makes it elastic. A shared store makes it remember your name whichever copy answers. One last thing before you leave: delete what you deployed.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58368" y="658368"/>
            <a:ext cx="173736" cy="17373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 y="658368"/>
            <a:ext cx="173736" cy="173736"/>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896112"/>
            <a:ext cx="173736" cy="173736"/>
          </a:xfrm>
          <a:prstGeom prst="ellipse">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896112"/>
            <a:ext cx="173736" cy="173736"/>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371600"/>
            <a:ext cx="7315200" cy="274320"/>
          </a:xfrm>
          <a:prstGeom prst="rect">
            <a:avLst/>
          </a:prstGeom>
          <a:noFill/>
        </p:spPr>
        <p:txBody>
          <a:bodyPr wrap="square" anchor="t" lIns="0" rIns="0" tIns="0" bIns="0">
            <a:spAutoFit/>
          </a:bodyPr>
          <a:lstStyle/>
          <a:p>
            <a:pPr algn="l">
              <a:lnSpc>
                <a:spcPct val="100000"/>
              </a:lnSpc>
            </a:pPr>
            <a:r>
              <a:rPr sz="950" b="1" spc="160">
                <a:solidFill>
                  <a:srgbClr val="9AA0A6"/>
                </a:solidFill>
                <a:latin typeface="Arial"/>
              </a:rPr>
              <a:t>AFTERNOON SESSION   ·   TWO HOURS   ·   HANDS ON</a:t>
            </a:r>
          </a:p>
        </p:txBody>
      </p:sp>
      <p:sp>
        <p:nvSpPr>
          <p:cNvPr id="7" name="TextBox 6"/>
          <p:cNvSpPr txBox="1"/>
          <p:nvPr/>
        </p:nvSpPr>
        <p:spPr>
          <a:xfrm>
            <a:off x="658368" y="1828800"/>
            <a:ext cx="10607040" cy="2377440"/>
          </a:xfrm>
          <a:prstGeom prst="rect">
            <a:avLst/>
          </a:prstGeom>
          <a:noFill/>
        </p:spPr>
        <p:txBody>
          <a:bodyPr wrap="square" lIns="0" rIns="0" tIns="0" bIns="0">
            <a:spAutoFit/>
          </a:bodyPr>
          <a:lstStyle/>
          <a:p>
            <a:pPr algn="l">
              <a:lnSpc>
                <a:spcPct val="110000"/>
              </a:lnSpc>
            </a:pPr>
            <a:r>
              <a:rPr sz="4000" b="1">
                <a:solidFill>
                  <a:srgbClr val="202124"/>
                </a:solidFill>
                <a:latin typeface="Arial"/>
              </a:rPr>
              <a:t>Auto-scale your AI agent</a:t>
            </a:r>
          </a:p>
          <a:p>
            <a:pPr algn="l">
              <a:lnSpc>
                <a:spcPct val="110000"/>
              </a:lnSpc>
            </a:pPr>
            <a:r>
              <a:rPr sz="4000" b="0">
                <a:solidFill>
                  <a:srgbClr val="202124"/>
                </a:solidFill>
                <a:latin typeface="Arial"/>
              </a:rPr>
              <a:t>on Cloud Run</a:t>
            </a:r>
          </a:p>
        </p:txBody>
      </p:sp>
      <p:sp>
        <p:nvSpPr>
          <p:cNvPr id="8" name="TextBox 7"/>
          <p:cNvSpPr txBox="1"/>
          <p:nvPr/>
        </p:nvSpPr>
        <p:spPr>
          <a:xfrm>
            <a:off x="658368" y="3429000"/>
            <a:ext cx="10058400" cy="914400"/>
          </a:xfrm>
          <a:prstGeom prst="rect">
            <a:avLst/>
          </a:prstGeom>
          <a:noFill/>
        </p:spPr>
        <p:txBody>
          <a:bodyPr wrap="square" anchor="t" lIns="0" rIns="0" tIns="0" bIns="0">
            <a:spAutoFit/>
          </a:bodyPr>
          <a:lstStyle/>
          <a:p>
            <a:pPr algn="l">
              <a:lnSpc>
                <a:spcPct val="140000"/>
              </a:lnSpc>
            </a:pPr>
            <a:r>
              <a:rPr sz="2400" b="0">
                <a:solidFill>
                  <a:srgbClr val="5F6368"/>
                </a:solidFill>
                <a:latin typeface="Arial"/>
              </a:rPr>
              <a:t>Where to run an agent on Google Cloud, how it scales,</a:t>
            </a:r>
          </a:p>
          <a:p>
            <a:pPr algn="l">
              <a:lnSpc>
                <a:spcPct val="140000"/>
              </a:lnSpc>
            </a:pPr>
            <a:r>
              <a:rPr sz="2400" b="0">
                <a:solidFill>
                  <a:srgbClr val="5F6368"/>
                </a:solidFill>
                <a:latin typeface="Arial"/>
              </a:rPr>
              <a:t>and what breaks when real people show up.</a:t>
            </a:r>
          </a:p>
        </p:txBody>
      </p:sp>
      <p:sp>
        <p:nvSpPr>
          <p:cNvPr id="9" name="TextBox 8"/>
          <p:cNvSpPr txBox="1"/>
          <p:nvPr/>
        </p:nvSpPr>
        <p:spPr>
          <a:xfrm>
            <a:off x="658368" y="5212080"/>
            <a:ext cx="7315200" cy="365760"/>
          </a:xfrm>
          <a:prstGeom prst="rect">
            <a:avLst/>
          </a:prstGeom>
          <a:noFill/>
        </p:spPr>
        <p:txBody>
          <a:bodyPr wrap="square" anchor="t" lIns="0" rIns="0" tIns="0" bIns="0">
            <a:spAutoFit/>
          </a:bodyPr>
          <a:lstStyle/>
          <a:p>
            <a:pPr algn="l">
              <a:lnSpc>
                <a:spcPct val="100000"/>
              </a:lnSpc>
            </a:pPr>
            <a:r>
              <a:rPr sz="2400" b="1">
                <a:solidFill>
                  <a:srgbClr val="202124"/>
                </a:solidFill>
                <a:latin typeface="Arial"/>
              </a:rPr>
              <a:t>Kiruthika Subramani</a:t>
            </a:r>
          </a:p>
        </p:txBody>
      </p:sp>
      <p:sp>
        <p:nvSpPr>
          <p:cNvPr id="10" name="TextBox 9"/>
          <p:cNvSpPr txBox="1"/>
          <p:nvPr/>
        </p:nvSpPr>
        <p:spPr>
          <a:xfrm>
            <a:off x="658368" y="5623560"/>
            <a:ext cx="7315200" cy="274320"/>
          </a:xfrm>
          <a:prstGeom prst="rect">
            <a:avLst/>
          </a:prstGeom>
          <a:noFill/>
        </p:spPr>
        <p:txBody>
          <a:bodyPr wrap="square" anchor="t" lIns="0" rIns="0" tIns="0" bIns="0">
            <a:spAutoFit/>
          </a:bodyPr>
          <a:lstStyle/>
          <a:p>
            <a:pPr algn="l">
              <a:lnSpc>
                <a:spcPct val="100000"/>
              </a:lnSpc>
            </a:pPr>
            <a:r>
              <a:rPr sz="1200" b="0">
                <a:solidFill>
                  <a:srgbClr val="9AA0A6"/>
                </a:solidFill>
                <a:latin typeface="Arial"/>
              </a:rPr>
              <a:t>Data Scientist, Bell Canada   ·   Google Developer Expert in AI</a:t>
            </a:r>
          </a:p>
        </p:txBody>
      </p:sp>
      <p:sp>
        <p:nvSpPr>
          <p:cNvPr id="11" name="Rectangle 10"/>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iruthika.jpg"/>
          <p:cNvPicPr>
            <a:picLocks noChangeAspect="1"/>
          </p:cNvPicPr>
          <p:nvPr/>
        </p:nvPicPr>
        <p:blipFill>
          <a:blip r:embed="rId2"/>
          <a:srcRect l="12000" r="12000"/>
          <a:stretch>
            <a:fillRect/>
          </a:stretch>
        </p:blipFill>
        <p:spPr>
          <a:xfrm>
            <a:off x="0" y="0"/>
            <a:ext cx="4114800" cy="6858000"/>
          </a:xfrm>
          <a:prstGeom prst="rect">
            <a:avLst/>
          </a:prstGeom>
        </p:spPr>
      </p:pic>
      <p:sp>
        <p:nvSpPr>
          <p:cNvPr id="3" name="TextBox 2"/>
          <p:cNvSpPr txBox="1"/>
          <p:nvPr/>
        </p:nvSpPr>
        <p:spPr>
          <a:xfrm>
            <a:off x="4892040" y="120700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REBONJOUR</a:t>
            </a:r>
          </a:p>
        </p:txBody>
      </p:sp>
      <p:sp>
        <p:nvSpPr>
          <p:cNvPr id="4" name="TextBox 3"/>
          <p:cNvSpPr txBox="1"/>
          <p:nvPr/>
        </p:nvSpPr>
        <p:spPr>
          <a:xfrm>
            <a:off x="4892040" y="1536192"/>
            <a:ext cx="6583680" cy="640080"/>
          </a:xfrm>
          <a:prstGeom prst="rect">
            <a:avLst/>
          </a:prstGeom>
          <a:noFill/>
        </p:spPr>
        <p:txBody>
          <a:bodyPr wrap="square" anchor="t" lIns="0" rIns="0" tIns="0" bIns="0">
            <a:spAutoFit/>
          </a:bodyPr>
          <a:lstStyle/>
          <a:p>
            <a:pPr algn="l">
              <a:lnSpc>
                <a:spcPct val="100000"/>
              </a:lnSpc>
            </a:pPr>
            <a:r>
              <a:rPr sz="4000" b="1">
                <a:solidFill>
                  <a:srgbClr val="202124"/>
                </a:solidFill>
                <a:latin typeface="Arial"/>
              </a:rPr>
              <a:t>Still Kiruthika</a:t>
            </a:r>
          </a:p>
        </p:txBody>
      </p:sp>
      <p:sp>
        <p:nvSpPr>
          <p:cNvPr id="5" name="TextBox 4"/>
          <p:cNvSpPr txBox="1"/>
          <p:nvPr/>
        </p:nvSpPr>
        <p:spPr>
          <a:xfrm>
            <a:off x="4892040" y="2212848"/>
            <a:ext cx="6766560" cy="329184"/>
          </a:xfrm>
          <a:prstGeom prst="rect">
            <a:avLst/>
          </a:prstGeom>
          <a:noFill/>
        </p:spPr>
        <p:txBody>
          <a:bodyPr wrap="square" anchor="t" lIns="0" rIns="0" tIns="0" bIns="0">
            <a:spAutoFit/>
          </a:bodyPr>
          <a:lstStyle/>
          <a:p>
            <a:pPr algn="l">
              <a:lnSpc>
                <a:spcPct val="100000"/>
              </a:lnSpc>
            </a:pPr>
            <a:r>
              <a:rPr sz="1600" b="0">
                <a:solidFill>
                  <a:srgbClr val="9AA0A6"/>
                </a:solidFill>
                <a:latin typeface="Arial"/>
              </a:rPr>
              <a:t>Starbucks still writes Cindy. Lunch did not change that.</a:t>
            </a:r>
          </a:p>
        </p:txBody>
      </p:sp>
      <p:sp>
        <p:nvSpPr>
          <p:cNvPr id="6" name="TextBox 5"/>
          <p:cNvSpPr txBox="1"/>
          <p:nvPr/>
        </p:nvSpPr>
        <p:spPr>
          <a:xfrm>
            <a:off x="4892040" y="2852928"/>
            <a:ext cx="6766560" cy="2194560"/>
          </a:xfrm>
          <a:prstGeom prst="rect">
            <a:avLst/>
          </a:prstGeom>
          <a:noFill/>
        </p:spPr>
        <p:txBody>
          <a:bodyPr wrap="square" lIns="0" rIns="0" tIns="0" bIns="0">
            <a:spAutoFit/>
          </a:bodyPr>
          <a:lstStyle/>
          <a:p>
            <a:pPr algn="l">
              <a:lnSpc>
                <a:spcPct val="142000"/>
              </a:lnSpc>
            </a:pPr>
            <a:r>
              <a:rPr sz="2400" b="0">
                <a:solidFill>
                  <a:srgbClr val="5F6368"/>
                </a:solidFill>
                <a:latin typeface="Arial"/>
              </a:rPr>
              <a:t>From </a:t>
            </a:r>
            <a:r>
              <a:rPr sz="2400" b="1">
                <a:solidFill>
                  <a:srgbClr val="202124"/>
                </a:solidFill>
                <a:latin typeface="Arial"/>
              </a:rPr>
              <a:t>Montreal</a:t>
            </a:r>
          </a:p>
          <a:p>
            <a:pPr algn="l">
              <a:lnSpc>
                <a:spcPct val="142000"/>
              </a:lnSpc>
            </a:pPr>
            <a:r>
              <a:rPr sz="2400" b="0">
                <a:solidFill>
                  <a:srgbClr val="5F6368"/>
                </a:solidFill>
                <a:latin typeface="Arial"/>
              </a:rPr>
              <a:t>Data Scientist at </a:t>
            </a:r>
            <a:r>
              <a:rPr sz="2400" b="1">
                <a:solidFill>
                  <a:srgbClr val="202124"/>
                </a:solidFill>
                <a:latin typeface="Arial"/>
              </a:rPr>
              <a:t>Bell Canada</a:t>
            </a:r>
          </a:p>
          <a:p>
            <a:pPr algn="l">
              <a:lnSpc>
                <a:spcPct val="142000"/>
              </a:lnSpc>
            </a:pPr>
            <a:r>
              <a:rPr sz="2400" b="1">
                <a:solidFill>
                  <a:srgbClr val="202124"/>
                </a:solidFill>
                <a:latin typeface="Arial"/>
              </a:rPr>
              <a:t>Google Developer Expert</a:t>
            </a:r>
            <a:r>
              <a:rPr sz="2400" b="0">
                <a:solidFill>
                  <a:srgbClr val="5F6368"/>
                </a:solidFill>
                <a:latin typeface="Arial"/>
              </a:rPr>
              <a:t> in AI</a:t>
            </a:r>
          </a:p>
          <a:p>
            <a:pPr algn="l">
              <a:lnSpc>
                <a:spcPct val="142000"/>
              </a:lnSpc>
            </a:pPr>
            <a:r>
              <a:rPr sz="2400" b="1">
                <a:solidFill>
                  <a:srgbClr val="202124"/>
                </a:solidFill>
                <a:latin typeface="Arial"/>
              </a:rPr>
              <a:t>Mila</a:t>
            </a:r>
            <a:r>
              <a:rPr sz="2400" b="0">
                <a:solidFill>
                  <a:srgbClr val="5F6368"/>
                </a:solidFill>
                <a:latin typeface="Arial"/>
              </a:rPr>
              <a:t> alumni, Women in AI scholarship</a:t>
            </a:r>
          </a:p>
          <a:p>
            <a:pPr algn="l">
              <a:lnSpc>
                <a:spcPct val="142000"/>
              </a:lnSpc>
            </a:pPr>
            <a:r>
              <a:rPr sz="2400" b="0">
                <a:solidFill>
                  <a:srgbClr val="5F6368"/>
                </a:solidFill>
                <a:latin typeface="Arial"/>
              </a:rPr>
              <a:t>Wrote </a:t>
            </a:r>
            <a:r>
              <a:rPr sz="2400" b="1">
                <a:solidFill>
                  <a:srgbClr val="202124"/>
                </a:solidFill>
                <a:latin typeface="Arial"/>
              </a:rPr>
              <a:t>two books</a:t>
            </a:r>
          </a:p>
        </p:txBody>
      </p:sp>
      <p:sp>
        <p:nvSpPr>
          <p:cNvPr id="7" name="TextBox 6"/>
          <p:cNvSpPr txBox="1"/>
          <p:nvPr/>
        </p:nvSpPr>
        <p:spPr>
          <a:xfrm>
            <a:off x="4892040" y="5577840"/>
            <a:ext cx="6766560" cy="365760"/>
          </a:xfrm>
          <a:prstGeom prst="rect">
            <a:avLst/>
          </a:prstGeom>
          <a:noFill/>
        </p:spPr>
        <p:txBody>
          <a:bodyPr wrap="square" anchor="t" lIns="0" rIns="0" tIns="0" bIns="0">
            <a:spAutoFit/>
          </a:bodyPr>
          <a:lstStyle/>
          <a:p>
            <a:pPr algn="l">
              <a:lnSpc>
                <a:spcPct val="100000"/>
              </a:lnSpc>
            </a:pPr>
            <a:r>
              <a:rPr sz="2400" b="0">
                <a:solidFill>
                  <a:srgbClr val="1A73E8"/>
                </a:solidFill>
                <a:latin typeface="Arial"/>
              </a:rPr>
              <a:t>Spider Man fan. Nice person.</a:t>
            </a:r>
          </a:p>
        </p:txBody>
      </p:sp>
      <p:sp>
        <p:nvSpPr>
          <p:cNvPr id="8" name="Rectangle 7"/>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1417320"/>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WHERE WE LEFT IT</a:t>
            </a:r>
          </a:p>
        </p:txBody>
      </p:sp>
      <p:sp>
        <p:nvSpPr>
          <p:cNvPr id="3" name="TextBox 2"/>
          <p:cNvSpPr txBox="1"/>
          <p:nvPr/>
        </p:nvSpPr>
        <p:spPr>
          <a:xfrm>
            <a:off x="658368" y="1874519"/>
            <a:ext cx="10789920" cy="1828800"/>
          </a:xfrm>
          <a:prstGeom prst="rect">
            <a:avLst/>
          </a:prstGeom>
          <a:noFill/>
        </p:spPr>
        <p:txBody>
          <a:bodyPr wrap="square" lIns="0" rIns="0" tIns="0" bIns="0">
            <a:spAutoFit/>
          </a:bodyPr>
          <a:lstStyle/>
          <a:p>
            <a:pPr algn="l">
              <a:lnSpc>
                <a:spcPct val="114000"/>
              </a:lnSpc>
            </a:pPr>
            <a:r>
              <a:rPr sz="4000" b="0">
                <a:solidFill>
                  <a:srgbClr val="202124"/>
                </a:solidFill>
                <a:latin typeface="Arial"/>
              </a:rPr>
              <a:t>It works on my laptop.</a:t>
            </a:r>
          </a:p>
          <a:p>
            <a:pPr algn="l">
              <a:lnSpc>
                <a:spcPct val="114000"/>
              </a:lnSpc>
            </a:pPr>
            <a:r>
              <a:rPr sz="4000" b="1">
                <a:solidFill>
                  <a:srgbClr val="1A73E8"/>
                </a:solidFill>
                <a:latin typeface="Arial"/>
              </a:rPr>
              <a:t>That was the easy part.</a:t>
            </a:r>
          </a:p>
        </p:txBody>
      </p:sp>
      <p:sp>
        <p:nvSpPr>
          <p:cNvPr id="4" name="TextBox 3"/>
          <p:cNvSpPr txBox="1"/>
          <p:nvPr/>
        </p:nvSpPr>
        <p:spPr>
          <a:xfrm>
            <a:off x="658368" y="4206240"/>
            <a:ext cx="10424160" cy="1097280"/>
          </a:xfrm>
          <a:prstGeom prst="rect">
            <a:avLst/>
          </a:prstGeom>
          <a:noFill/>
        </p:spPr>
        <p:txBody>
          <a:bodyPr wrap="square" anchor="t" lIns="0" rIns="0" tIns="0" bIns="0">
            <a:spAutoFit/>
          </a:bodyPr>
          <a:lstStyle/>
          <a:p>
            <a:pPr algn="l">
              <a:lnSpc>
                <a:spcPct val="142000"/>
              </a:lnSpc>
            </a:pPr>
            <a:r>
              <a:rPr sz="2400" b="0">
                <a:solidFill>
                  <a:srgbClr val="5F6368"/>
                </a:solidFill>
                <a:latin typeface="Arial"/>
              </a:rPr>
              <a:t>One process. One machine. One user, and it was me.</a:t>
            </a:r>
          </a:p>
        </p:txBody>
      </p:sp>
      <p:sp>
        <p:nvSpPr>
          <p:cNvPr id="5" name="Rectangle 4"/>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10" name="TextBox 9"/>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PRODUCTION</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Four things that are different with real users</a:t>
            </a:r>
          </a:p>
        </p:txBody>
      </p:sp>
      <p:sp>
        <p:nvSpPr>
          <p:cNvPr id="4" name="Rounded Rectangle 3"/>
          <p:cNvSpPr/>
          <p:nvPr/>
        </p:nvSpPr>
        <p:spPr>
          <a:xfrm>
            <a:off x="658368" y="1874519"/>
            <a:ext cx="2514600" cy="3108960"/>
          </a:xfrm>
          <a:prstGeom prst="roundRect">
            <a:avLst>
              <a:gd name="adj" fmla="val 1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240280"/>
            <a:ext cx="1965960" cy="822960"/>
          </a:xfrm>
          <a:prstGeom prst="rect">
            <a:avLst/>
          </a:prstGeom>
          <a:noFill/>
        </p:spPr>
        <p:txBody>
          <a:bodyPr wrap="square" anchor="t" lIns="0" rIns="0" tIns="0" bIns="0">
            <a:spAutoFit/>
          </a:bodyPr>
          <a:lstStyle/>
          <a:p>
            <a:pPr algn="l">
              <a:lnSpc>
                <a:spcPct val="105000"/>
              </a:lnSpc>
            </a:pPr>
            <a:r>
              <a:rPr sz="2200" b="1">
                <a:solidFill>
                  <a:srgbClr val="174EA6"/>
                </a:solidFill>
                <a:latin typeface="Arial"/>
              </a:rPr>
              <a:t>Many at once</a:t>
            </a:r>
          </a:p>
        </p:txBody>
      </p:sp>
      <p:sp>
        <p:nvSpPr>
          <p:cNvPr id="6" name="TextBox 5"/>
          <p:cNvSpPr txBox="1"/>
          <p:nvPr/>
        </p:nvSpPr>
        <p:spPr>
          <a:xfrm>
            <a:off x="932688" y="3429000"/>
            <a:ext cx="1965960" cy="128016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requests arrive together, not one after another</a:t>
            </a:r>
          </a:p>
        </p:txBody>
      </p:sp>
      <p:sp>
        <p:nvSpPr>
          <p:cNvPr id="7" name="Rounded Rectangle 6"/>
          <p:cNvSpPr/>
          <p:nvPr/>
        </p:nvSpPr>
        <p:spPr>
          <a:xfrm>
            <a:off x="3447288" y="1874519"/>
            <a:ext cx="2514600" cy="3108960"/>
          </a:xfrm>
          <a:prstGeom prst="roundRect">
            <a:avLst>
              <a:gd name="adj" fmla="val 16000"/>
            </a:avLst>
          </a:prstGeom>
          <a:solidFill>
            <a:srgbClr val="FCE8E6"/>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608" y="2240280"/>
            <a:ext cx="1965960" cy="822960"/>
          </a:xfrm>
          <a:prstGeom prst="rect">
            <a:avLst/>
          </a:prstGeom>
          <a:noFill/>
        </p:spPr>
        <p:txBody>
          <a:bodyPr wrap="square" anchor="t" lIns="0" rIns="0" tIns="0" bIns="0">
            <a:spAutoFit/>
          </a:bodyPr>
          <a:lstStyle/>
          <a:p>
            <a:pPr algn="l">
              <a:lnSpc>
                <a:spcPct val="105000"/>
              </a:lnSpc>
            </a:pPr>
            <a:r>
              <a:rPr sz="2200" b="1">
                <a:solidFill>
                  <a:srgbClr val="D93025"/>
                </a:solidFill>
                <a:latin typeface="Arial"/>
              </a:rPr>
              <a:t>No shared memory</a:t>
            </a:r>
          </a:p>
        </p:txBody>
      </p:sp>
      <p:sp>
        <p:nvSpPr>
          <p:cNvPr id="9" name="TextBox 8"/>
          <p:cNvSpPr txBox="1"/>
          <p:nvPr/>
        </p:nvSpPr>
        <p:spPr>
          <a:xfrm>
            <a:off x="3721608" y="3429000"/>
            <a:ext cx="1965960" cy="128016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the second message may reach a different copy of your app</a:t>
            </a:r>
          </a:p>
        </p:txBody>
      </p:sp>
      <p:sp>
        <p:nvSpPr>
          <p:cNvPr id="10" name="Rounded Rectangle 9"/>
          <p:cNvSpPr/>
          <p:nvPr/>
        </p:nvSpPr>
        <p:spPr>
          <a:xfrm>
            <a:off x="6236208" y="1874519"/>
            <a:ext cx="2514600" cy="3108960"/>
          </a:xfrm>
          <a:prstGeom prst="roundRect">
            <a:avLst>
              <a:gd name="adj" fmla="val 16000"/>
            </a:avLst>
          </a:prstGeom>
          <a:solidFill>
            <a:srgbClr val="FEF7E0"/>
          </a:solidFill>
          <a:ln w="15875">
            <a:solidFill>
              <a:srgbClr val="F9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2240280"/>
            <a:ext cx="1965960" cy="822960"/>
          </a:xfrm>
          <a:prstGeom prst="rect">
            <a:avLst/>
          </a:prstGeom>
          <a:noFill/>
        </p:spPr>
        <p:txBody>
          <a:bodyPr wrap="square" anchor="t" lIns="0" rIns="0" tIns="0" bIns="0">
            <a:spAutoFit/>
          </a:bodyPr>
          <a:lstStyle/>
          <a:p>
            <a:pPr algn="l">
              <a:lnSpc>
                <a:spcPct val="105000"/>
              </a:lnSpc>
            </a:pPr>
            <a:r>
              <a:rPr sz="2200" b="1">
                <a:solidFill>
                  <a:srgbClr val="202124"/>
                </a:solidFill>
                <a:latin typeface="Arial"/>
              </a:rPr>
              <a:t>Things fail</a:t>
            </a:r>
          </a:p>
        </p:txBody>
      </p:sp>
      <p:sp>
        <p:nvSpPr>
          <p:cNvPr id="12" name="TextBox 11"/>
          <p:cNvSpPr txBox="1"/>
          <p:nvPr/>
        </p:nvSpPr>
        <p:spPr>
          <a:xfrm>
            <a:off x="6510528" y="3429000"/>
            <a:ext cx="1965960" cy="128016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the model is busy, an API says no, a machine restarts</a:t>
            </a:r>
          </a:p>
        </p:txBody>
      </p:sp>
      <p:sp>
        <p:nvSpPr>
          <p:cNvPr id="13" name="Rounded Rectangle 12"/>
          <p:cNvSpPr/>
          <p:nvPr/>
        </p:nvSpPr>
        <p:spPr>
          <a:xfrm>
            <a:off x="9025128" y="1874519"/>
            <a:ext cx="2514600" cy="3108960"/>
          </a:xfrm>
          <a:prstGeom prst="roundRect">
            <a:avLst>
              <a:gd name="adj" fmla="val 16000"/>
            </a:avLst>
          </a:prstGeom>
          <a:solidFill>
            <a:srgbClr val="E6F4EA"/>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99448" y="2240280"/>
            <a:ext cx="1965960" cy="822960"/>
          </a:xfrm>
          <a:prstGeom prst="rect">
            <a:avLst/>
          </a:prstGeom>
          <a:noFill/>
        </p:spPr>
        <p:txBody>
          <a:bodyPr wrap="square" anchor="t" lIns="0" rIns="0" tIns="0" bIns="0">
            <a:spAutoFit/>
          </a:bodyPr>
          <a:lstStyle/>
          <a:p>
            <a:pPr algn="l">
              <a:lnSpc>
                <a:spcPct val="105000"/>
              </a:lnSpc>
            </a:pPr>
            <a:r>
              <a:rPr sz="2200" b="1">
                <a:solidFill>
                  <a:srgbClr val="1E8E3E"/>
                </a:solidFill>
                <a:latin typeface="Arial"/>
              </a:rPr>
              <a:t>Every call costs</a:t>
            </a:r>
          </a:p>
        </p:txBody>
      </p:sp>
      <p:sp>
        <p:nvSpPr>
          <p:cNvPr id="15" name="TextBox 14"/>
          <p:cNvSpPr txBox="1"/>
          <p:nvPr/>
        </p:nvSpPr>
        <p:spPr>
          <a:xfrm>
            <a:off x="9299448" y="3429000"/>
            <a:ext cx="1965960" cy="128016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tokens, searches and compute, multiplied by every user</a:t>
            </a:r>
          </a:p>
        </p:txBody>
      </p:sp>
      <p:sp>
        <p:nvSpPr>
          <p:cNvPr id="16" name="TextBox 15"/>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None of these show up in a demo. </a:t>
            </a:r>
            <a:r>
              <a:rPr sz="2400" b="1">
                <a:solidFill>
                  <a:srgbClr val="202124"/>
                </a:solidFill>
                <a:latin typeface="Arial"/>
              </a:rPr>
              <a:t>All of them show up in week one.</a:t>
            </a:r>
          </a:p>
        </p:txBody>
      </p:sp>
      <p:sp>
        <p:nvSpPr>
          <p:cNvPr id="17" name="Rectangle 16"/>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2" name="TextBox 21"/>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WHERE TO RUN IT</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Three homes for an agent on Google Cloud</a:t>
            </a:r>
          </a:p>
        </p:txBody>
      </p:sp>
      <p:sp>
        <p:nvSpPr>
          <p:cNvPr id="4" name="Rounded Rectangle 3"/>
          <p:cNvSpPr/>
          <p:nvPr/>
        </p:nvSpPr>
        <p:spPr>
          <a:xfrm>
            <a:off x="658368" y="1874519"/>
            <a:ext cx="3429000" cy="3108960"/>
          </a:xfrm>
          <a:prstGeom prst="roundRect">
            <a:avLst>
              <a:gd name="adj" fmla="val 1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194560"/>
            <a:ext cx="2843784" cy="548640"/>
          </a:xfrm>
          <a:prstGeom prst="rect">
            <a:avLst/>
          </a:prstGeom>
          <a:noFill/>
        </p:spPr>
        <p:txBody>
          <a:bodyPr wrap="square" anchor="t" lIns="0" rIns="0" tIns="0" bIns="0">
            <a:spAutoFit/>
          </a:bodyPr>
          <a:lstStyle/>
          <a:p>
            <a:pPr algn="l">
              <a:lnSpc>
                <a:spcPct val="100000"/>
              </a:lnSpc>
            </a:pPr>
            <a:r>
              <a:rPr sz="2800" b="1">
                <a:solidFill>
                  <a:srgbClr val="174EA6"/>
                </a:solidFill>
                <a:latin typeface="Arial"/>
              </a:rPr>
              <a:t>Agent Engine</a:t>
            </a:r>
          </a:p>
        </p:txBody>
      </p:sp>
      <p:sp>
        <p:nvSpPr>
          <p:cNvPr id="6" name="TextBox 5"/>
          <p:cNvSpPr txBox="1"/>
          <p:nvPr/>
        </p:nvSpPr>
        <p:spPr>
          <a:xfrm>
            <a:off x="950976" y="2880360"/>
            <a:ext cx="2843784"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the managed runtime</a:t>
            </a:r>
          </a:p>
        </p:txBody>
      </p:sp>
      <p:sp>
        <p:nvSpPr>
          <p:cNvPr id="7" name="TextBox 6"/>
          <p:cNvSpPr txBox="1"/>
          <p:nvPr/>
        </p:nvSpPr>
        <p:spPr>
          <a:xfrm>
            <a:off x="950976" y="3429000"/>
            <a:ext cx="2843784" cy="1371600"/>
          </a:xfrm>
          <a:prstGeom prst="rect">
            <a:avLst/>
          </a:prstGeom>
          <a:noFill/>
        </p:spPr>
        <p:txBody>
          <a:bodyPr wrap="square" anchor="t" lIns="0" rIns="0" tIns="0" bIns="0">
            <a:spAutoFit/>
          </a:bodyPr>
          <a:lstStyle/>
          <a:p>
            <a:pPr algn="l">
              <a:lnSpc>
                <a:spcPct val="140000"/>
              </a:lnSpc>
            </a:pPr>
            <a:r>
              <a:rPr sz="1600" b="0">
                <a:solidFill>
                  <a:srgbClr val="5F6368"/>
                </a:solidFill>
                <a:latin typeface="Arial"/>
              </a:rPr>
              <a:t>You hand over the agent. Sessions, memory and tracing come built in.</a:t>
            </a:r>
          </a:p>
        </p:txBody>
      </p:sp>
      <p:sp>
        <p:nvSpPr>
          <p:cNvPr id="8" name="Rounded Rectangle 7"/>
          <p:cNvSpPr/>
          <p:nvPr/>
        </p:nvSpPr>
        <p:spPr>
          <a:xfrm>
            <a:off x="4389120" y="1874519"/>
            <a:ext cx="3429000" cy="3108960"/>
          </a:xfrm>
          <a:prstGeom prst="roundRect">
            <a:avLst>
              <a:gd name="adj" fmla="val 16000"/>
            </a:avLst>
          </a:prstGeom>
          <a:solidFill>
            <a:srgbClr val="E6F4EA"/>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2194560"/>
            <a:ext cx="2843784" cy="548640"/>
          </a:xfrm>
          <a:prstGeom prst="rect">
            <a:avLst/>
          </a:prstGeom>
          <a:noFill/>
        </p:spPr>
        <p:txBody>
          <a:bodyPr wrap="square" anchor="t" lIns="0" rIns="0" tIns="0" bIns="0">
            <a:spAutoFit/>
          </a:bodyPr>
          <a:lstStyle/>
          <a:p>
            <a:pPr algn="l">
              <a:lnSpc>
                <a:spcPct val="100000"/>
              </a:lnSpc>
            </a:pPr>
            <a:r>
              <a:rPr sz="2800" b="1">
                <a:solidFill>
                  <a:srgbClr val="1E8E3E"/>
                </a:solidFill>
                <a:latin typeface="Arial"/>
              </a:rPr>
              <a:t>Cloud Run</a:t>
            </a:r>
          </a:p>
        </p:txBody>
      </p:sp>
      <p:sp>
        <p:nvSpPr>
          <p:cNvPr id="10" name="TextBox 9"/>
          <p:cNvSpPr txBox="1"/>
          <p:nvPr/>
        </p:nvSpPr>
        <p:spPr>
          <a:xfrm>
            <a:off x="4681728" y="2880360"/>
            <a:ext cx="2843784"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serverless containers</a:t>
            </a:r>
          </a:p>
        </p:txBody>
      </p:sp>
      <p:sp>
        <p:nvSpPr>
          <p:cNvPr id="11" name="TextBox 10"/>
          <p:cNvSpPr txBox="1"/>
          <p:nvPr/>
        </p:nvSpPr>
        <p:spPr>
          <a:xfrm>
            <a:off x="4681728" y="3429000"/>
            <a:ext cx="2843784" cy="1371600"/>
          </a:xfrm>
          <a:prstGeom prst="rect">
            <a:avLst/>
          </a:prstGeom>
          <a:noFill/>
        </p:spPr>
        <p:txBody>
          <a:bodyPr wrap="square" anchor="t" lIns="0" rIns="0" tIns="0" bIns="0">
            <a:spAutoFit/>
          </a:bodyPr>
          <a:lstStyle/>
          <a:p>
            <a:pPr algn="l">
              <a:lnSpc>
                <a:spcPct val="140000"/>
              </a:lnSpc>
            </a:pPr>
            <a:r>
              <a:rPr sz="1600" b="0">
                <a:solidFill>
                  <a:srgbClr val="5F6368"/>
                </a:solidFill>
                <a:latin typeface="Arial"/>
              </a:rPr>
              <a:t>You hand over a container. It scales with traffic, down to zero.</a:t>
            </a:r>
          </a:p>
        </p:txBody>
      </p:sp>
      <p:sp>
        <p:nvSpPr>
          <p:cNvPr id="12" name="Rounded Rectangle 11"/>
          <p:cNvSpPr/>
          <p:nvPr/>
        </p:nvSpPr>
        <p:spPr>
          <a:xfrm>
            <a:off x="8119872" y="1874519"/>
            <a:ext cx="3429000" cy="3108960"/>
          </a:xfrm>
          <a:prstGeom prst="roundRect">
            <a:avLst>
              <a:gd name="adj" fmla="val 16000"/>
            </a:avLst>
          </a:prstGeom>
          <a:solidFill>
            <a:srgbClr val="FEF7E0"/>
          </a:solidFill>
          <a:ln w="15875">
            <a:solidFill>
              <a:srgbClr val="F9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194560"/>
            <a:ext cx="2843784" cy="548640"/>
          </a:xfrm>
          <a:prstGeom prst="rect">
            <a:avLst/>
          </a:prstGeom>
          <a:noFill/>
        </p:spPr>
        <p:txBody>
          <a:bodyPr wrap="square" anchor="t" lIns="0" rIns="0" tIns="0" bIns="0">
            <a:spAutoFit/>
          </a:bodyPr>
          <a:lstStyle/>
          <a:p>
            <a:pPr algn="l">
              <a:lnSpc>
                <a:spcPct val="100000"/>
              </a:lnSpc>
            </a:pPr>
            <a:r>
              <a:rPr sz="2800" b="1">
                <a:solidFill>
                  <a:srgbClr val="202124"/>
                </a:solidFill>
                <a:latin typeface="Arial"/>
              </a:rPr>
              <a:t>GKE</a:t>
            </a:r>
          </a:p>
        </p:txBody>
      </p:sp>
      <p:sp>
        <p:nvSpPr>
          <p:cNvPr id="14" name="TextBox 13"/>
          <p:cNvSpPr txBox="1"/>
          <p:nvPr/>
        </p:nvSpPr>
        <p:spPr>
          <a:xfrm>
            <a:off x="8412480" y="2880360"/>
            <a:ext cx="2843784"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Kubernetes</a:t>
            </a:r>
          </a:p>
        </p:txBody>
      </p:sp>
      <p:sp>
        <p:nvSpPr>
          <p:cNvPr id="15" name="TextBox 14"/>
          <p:cNvSpPr txBox="1"/>
          <p:nvPr/>
        </p:nvSpPr>
        <p:spPr>
          <a:xfrm>
            <a:off x="8412480" y="3429000"/>
            <a:ext cx="2843784" cy="1371600"/>
          </a:xfrm>
          <a:prstGeom prst="rect">
            <a:avLst/>
          </a:prstGeom>
          <a:noFill/>
        </p:spPr>
        <p:txBody>
          <a:bodyPr wrap="square" anchor="t" lIns="0" rIns="0" tIns="0" bIns="0">
            <a:spAutoFit/>
          </a:bodyPr>
          <a:lstStyle/>
          <a:p>
            <a:pPr algn="l">
              <a:lnSpc>
                <a:spcPct val="140000"/>
              </a:lnSpc>
            </a:pPr>
            <a:r>
              <a:rPr sz="1600" b="0">
                <a:solidFill>
                  <a:srgbClr val="5F6368"/>
                </a:solidFill>
                <a:latin typeface="Arial"/>
              </a:rPr>
              <a:t>You run the cluster. Full control, sandboxes, your own GPUs.</a:t>
            </a:r>
          </a:p>
        </p:txBody>
      </p:sp>
      <p:sp>
        <p:nvSpPr>
          <p:cNvPr id="16" name="TextBox 15"/>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Left to right: </a:t>
            </a:r>
            <a:r>
              <a:rPr sz="2400" b="1">
                <a:solidFill>
                  <a:srgbClr val="202124"/>
                </a:solidFill>
                <a:latin typeface="Arial"/>
              </a:rPr>
              <a:t>less to manage, then more to control.</a:t>
            </a:r>
          </a:p>
        </p:txBody>
      </p:sp>
      <p:sp>
        <p:nvSpPr>
          <p:cNvPr id="17" name="Rectangle 16"/>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2" name="TextBox 21"/>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WHERE TO RUN IT</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When to choose which</a:t>
            </a:r>
          </a:p>
        </p:txBody>
      </p:sp>
      <p:sp>
        <p:nvSpPr>
          <p:cNvPr id="4" name="Rounded Rectangle 3"/>
          <p:cNvSpPr/>
          <p:nvPr/>
        </p:nvSpPr>
        <p:spPr>
          <a:xfrm>
            <a:off x="658368" y="1783080"/>
            <a:ext cx="10874959" cy="621792"/>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956816"/>
            <a:ext cx="5577840" cy="320040"/>
          </a:xfrm>
          <a:prstGeom prst="rect">
            <a:avLst/>
          </a:prstGeom>
          <a:noFill/>
        </p:spPr>
        <p:txBody>
          <a:bodyPr wrap="square" anchor="t" lIns="0" rIns="0" tIns="0" bIns="0">
            <a:spAutoFit/>
          </a:bodyPr>
          <a:lstStyle/>
          <a:p>
            <a:pPr algn="l">
              <a:lnSpc>
                <a:spcPct val="100000"/>
              </a:lnSpc>
            </a:pPr>
            <a:r>
              <a:rPr sz="1600" b="1">
                <a:solidFill>
                  <a:srgbClr val="1E8E3E"/>
                </a:solidFill>
                <a:latin typeface="Arial"/>
              </a:rPr>
              <a:t>A chat or API agent, bursty traffic</a:t>
            </a:r>
          </a:p>
        </p:txBody>
      </p:sp>
      <p:sp>
        <p:nvSpPr>
          <p:cNvPr id="6" name="TextBox 5"/>
          <p:cNvSpPr txBox="1"/>
          <p:nvPr/>
        </p:nvSpPr>
        <p:spPr>
          <a:xfrm>
            <a:off x="6693408" y="1956816"/>
            <a:ext cx="456559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Cloud Run. Start here.</a:t>
            </a:r>
          </a:p>
        </p:txBody>
      </p:sp>
      <p:sp>
        <p:nvSpPr>
          <p:cNvPr id="7" name="Rounded Rectangle 6"/>
          <p:cNvSpPr/>
          <p:nvPr/>
        </p:nvSpPr>
        <p:spPr>
          <a:xfrm>
            <a:off x="658368" y="2532888"/>
            <a:ext cx="10874959" cy="621792"/>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706624"/>
            <a:ext cx="5577840" cy="320040"/>
          </a:xfrm>
          <a:prstGeom prst="rect">
            <a:avLst/>
          </a:prstGeom>
          <a:noFill/>
        </p:spPr>
        <p:txBody>
          <a:bodyPr wrap="square" anchor="t" lIns="0" rIns="0" tIns="0" bIns="0">
            <a:spAutoFit/>
          </a:bodyPr>
          <a:lstStyle/>
          <a:p>
            <a:pPr algn="l">
              <a:lnSpc>
                <a:spcPct val="100000"/>
              </a:lnSpc>
            </a:pPr>
            <a:r>
              <a:rPr sz="1600" b="1">
                <a:solidFill>
                  <a:srgbClr val="174EA6"/>
                </a:solidFill>
                <a:latin typeface="Arial"/>
              </a:rPr>
              <a:t>You want sessions, memory and evals managed</a:t>
            </a:r>
          </a:p>
        </p:txBody>
      </p:sp>
      <p:sp>
        <p:nvSpPr>
          <p:cNvPr id="9" name="TextBox 8"/>
          <p:cNvSpPr txBox="1"/>
          <p:nvPr/>
        </p:nvSpPr>
        <p:spPr>
          <a:xfrm>
            <a:off x="6693408" y="2706624"/>
            <a:ext cx="456559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Agent Engine</a:t>
            </a:r>
          </a:p>
        </p:txBody>
      </p:sp>
      <p:sp>
        <p:nvSpPr>
          <p:cNvPr id="10" name="Rounded Rectangle 9"/>
          <p:cNvSpPr/>
          <p:nvPr/>
        </p:nvSpPr>
        <p:spPr>
          <a:xfrm>
            <a:off x="658368" y="3282696"/>
            <a:ext cx="10874959" cy="621792"/>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456432"/>
            <a:ext cx="5577840" cy="320040"/>
          </a:xfrm>
          <a:prstGeom prst="rect">
            <a:avLst/>
          </a:prstGeom>
          <a:noFill/>
        </p:spPr>
        <p:txBody>
          <a:bodyPr wrap="square" anchor="t" lIns="0" rIns="0" tIns="0" bIns="0">
            <a:spAutoFit/>
          </a:bodyPr>
          <a:lstStyle/>
          <a:p>
            <a:pPr algn="l">
              <a:lnSpc>
                <a:spcPct val="100000"/>
              </a:lnSpc>
            </a:pPr>
            <a:r>
              <a:rPr sz="1600" b="1">
                <a:solidFill>
                  <a:srgbClr val="1E8E3E"/>
                </a:solidFill>
                <a:latin typeface="Arial"/>
              </a:rPr>
              <a:t>Long batch work, no user waiting</a:t>
            </a:r>
          </a:p>
        </p:txBody>
      </p:sp>
      <p:sp>
        <p:nvSpPr>
          <p:cNvPr id="12" name="TextBox 11"/>
          <p:cNvSpPr txBox="1"/>
          <p:nvPr/>
        </p:nvSpPr>
        <p:spPr>
          <a:xfrm>
            <a:off x="6693408" y="3456432"/>
            <a:ext cx="456559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Cloud Run jobs</a:t>
            </a:r>
          </a:p>
        </p:txBody>
      </p:sp>
      <p:sp>
        <p:nvSpPr>
          <p:cNvPr id="13" name="Rounded Rectangle 12"/>
          <p:cNvSpPr/>
          <p:nvPr/>
        </p:nvSpPr>
        <p:spPr>
          <a:xfrm>
            <a:off x="658368" y="4032504"/>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206240"/>
            <a:ext cx="557784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The agent runs code it wrote itself</a:t>
            </a:r>
          </a:p>
        </p:txBody>
      </p:sp>
      <p:sp>
        <p:nvSpPr>
          <p:cNvPr id="15" name="TextBox 14"/>
          <p:cNvSpPr txBox="1"/>
          <p:nvPr/>
        </p:nvSpPr>
        <p:spPr>
          <a:xfrm>
            <a:off x="6693408" y="4206240"/>
            <a:ext cx="456559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GKE, in a sandbox</a:t>
            </a:r>
          </a:p>
        </p:txBody>
      </p:sp>
      <p:sp>
        <p:nvSpPr>
          <p:cNvPr id="16" name="Rounded Rectangle 15"/>
          <p:cNvSpPr/>
          <p:nvPr/>
        </p:nvSpPr>
        <p:spPr>
          <a:xfrm>
            <a:off x="658368" y="4782312"/>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4956048"/>
            <a:ext cx="557784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 fleet of agents, or your own models on GPUs</a:t>
            </a:r>
          </a:p>
        </p:txBody>
      </p:sp>
      <p:sp>
        <p:nvSpPr>
          <p:cNvPr id="18" name="TextBox 17"/>
          <p:cNvSpPr txBox="1"/>
          <p:nvPr/>
        </p:nvSpPr>
        <p:spPr>
          <a:xfrm>
            <a:off x="6693408" y="4956048"/>
            <a:ext cx="456559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GKE</a:t>
            </a:r>
          </a:p>
        </p:txBody>
      </p:sp>
      <p:sp>
        <p:nvSpPr>
          <p:cNvPr id="19" name="TextBox 18"/>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The same agent code can move between them. </a:t>
            </a:r>
            <a:r>
              <a:rPr sz="2400" b="1">
                <a:solidFill>
                  <a:srgbClr val="202124"/>
                </a:solidFill>
                <a:latin typeface="Arial"/>
              </a:rPr>
              <a:t>Pick the simplest that fits.</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PACKAGING</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A container is a recipe anyone can run</a:t>
            </a:r>
          </a:p>
        </p:txBody>
      </p:sp>
      <p:sp>
        <p:nvSpPr>
          <p:cNvPr id="4" name="Rounded Rectangle 3"/>
          <p:cNvSpPr/>
          <p:nvPr/>
        </p:nvSpPr>
        <p:spPr>
          <a:xfrm>
            <a:off x="658368" y="1783080"/>
            <a:ext cx="6035040" cy="356616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002536"/>
            <a:ext cx="5486400" cy="3200400"/>
          </a:xfrm>
          <a:prstGeom prst="rect">
            <a:avLst/>
          </a:prstGeom>
          <a:noFill/>
        </p:spPr>
        <p:txBody>
          <a:bodyPr wrap="square" anchor="t" lIns="0" rIns="0" tIns="0" bIns="0">
            <a:spAutoFit/>
          </a:bodyPr>
          <a:lstStyle/>
          <a:p>
            <a:pPr algn="l">
              <a:lnSpc>
                <a:spcPct val="125000"/>
              </a:lnSpc>
            </a:pPr>
            <a:r>
              <a:rPr sz="1500" b="0">
                <a:solidFill>
                  <a:srgbClr val="202124"/>
                </a:solidFill>
                <a:latin typeface="Consolas"/>
              </a:rPr>
              <a:t>FROM python:3.13-slim</a:t>
            </a:r>
          </a:p>
          <a:p>
            <a:pPr algn="l">
              <a:lnSpc>
                <a:spcPct val="125000"/>
              </a:lnSpc>
            </a:pPr>
            <a:r>
              <a:rPr sz="1500" b="0">
                <a:solidFill>
                  <a:srgbClr val="202124"/>
                </a:solidFill>
                <a:latin typeface="Consolas"/>
              </a:rPr>
              <a:t>WORKDIR /app</a:t>
            </a:r>
          </a:p>
          <a:p>
            <a:pPr algn="l">
              <a:lnSpc>
                <a:spcPct val="125000"/>
              </a:lnSpc>
            </a:pPr>
            <a:r>
              <a:rPr sz="1500" b="0">
                <a:solidFill>
                  <a:srgbClr val="202124"/>
                </a:solidFill>
                <a:latin typeface="Consolas"/>
              </a:rPr>
              <a:t/>
            </a:r>
          </a:p>
          <a:p>
            <a:pPr algn="l">
              <a:lnSpc>
                <a:spcPct val="125000"/>
              </a:lnSpc>
            </a:pPr>
            <a:r>
              <a:rPr sz="1500" b="0">
                <a:solidFill>
                  <a:srgbClr val="202124"/>
                </a:solidFill>
                <a:latin typeface="Consolas"/>
              </a:rPr>
              <a:t>COPY requirements.txt .</a:t>
            </a:r>
          </a:p>
          <a:p>
            <a:pPr algn="l">
              <a:lnSpc>
                <a:spcPct val="125000"/>
              </a:lnSpc>
            </a:pPr>
            <a:r>
              <a:rPr sz="1500" b="0">
                <a:solidFill>
                  <a:srgbClr val="202124"/>
                </a:solidFill>
                <a:latin typeface="Consolas"/>
              </a:rPr>
              <a:t>RUN pip install -r requirements.txt</a:t>
            </a:r>
          </a:p>
          <a:p>
            <a:pPr algn="l">
              <a:lnSpc>
                <a:spcPct val="125000"/>
              </a:lnSpc>
            </a:pPr>
            <a:r>
              <a:rPr sz="1500" b="0">
                <a:solidFill>
                  <a:srgbClr val="202124"/>
                </a:solidFill>
                <a:latin typeface="Consolas"/>
              </a:rPr>
              <a:t/>
            </a:r>
          </a:p>
          <a:p>
            <a:pPr algn="l">
              <a:lnSpc>
                <a:spcPct val="125000"/>
              </a:lnSpc>
            </a:pPr>
            <a:r>
              <a:rPr sz="1500" b="0">
                <a:solidFill>
                  <a:srgbClr val="202124"/>
                </a:solidFill>
                <a:latin typeface="Consolas"/>
              </a:rPr>
              <a:t>COPY . .</a:t>
            </a:r>
          </a:p>
          <a:p>
            <a:pPr algn="l">
              <a:lnSpc>
                <a:spcPct val="125000"/>
              </a:lnSpc>
            </a:pPr>
            <a:r>
              <a:rPr sz="1500" b="0">
                <a:solidFill>
                  <a:srgbClr val="202124"/>
                </a:solidFill>
                <a:latin typeface="Consolas"/>
              </a:rPr>
              <a:t/>
            </a:r>
          </a:p>
          <a:p>
            <a:pPr algn="l">
              <a:lnSpc>
                <a:spcPct val="125000"/>
              </a:lnSpc>
            </a:pPr>
            <a:r>
              <a:rPr sz="1500" b="0">
                <a:solidFill>
                  <a:srgbClr val="202124"/>
                </a:solidFill>
                <a:latin typeface="Consolas"/>
              </a:rPr>
              <a:t>CMD ["sh", "serve.sh"]</a:t>
            </a:r>
          </a:p>
        </p:txBody>
      </p:sp>
      <p:sp>
        <p:nvSpPr>
          <p:cNvPr id="6" name="Rounded Rectangle 5"/>
          <p:cNvSpPr/>
          <p:nvPr/>
        </p:nvSpPr>
        <p:spPr>
          <a:xfrm>
            <a:off x="7059168" y="1783080"/>
            <a:ext cx="4480560" cy="1060704"/>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33488" y="1965960"/>
            <a:ext cx="4023360" cy="320040"/>
          </a:xfrm>
          <a:prstGeom prst="rect">
            <a:avLst/>
          </a:prstGeom>
          <a:noFill/>
        </p:spPr>
        <p:txBody>
          <a:bodyPr wrap="square" anchor="t" lIns="0" rIns="0" tIns="0" bIns="0">
            <a:spAutoFit/>
          </a:bodyPr>
          <a:lstStyle/>
          <a:p>
            <a:pPr algn="l">
              <a:lnSpc>
                <a:spcPct val="100000"/>
              </a:lnSpc>
            </a:pPr>
            <a:r>
              <a:rPr sz="1600" b="1">
                <a:solidFill>
                  <a:srgbClr val="174EA6"/>
                </a:solidFill>
                <a:latin typeface="Arial"/>
              </a:rPr>
              <a:t>Same everywhere</a:t>
            </a:r>
          </a:p>
        </p:txBody>
      </p:sp>
      <p:sp>
        <p:nvSpPr>
          <p:cNvPr id="8" name="TextBox 7"/>
          <p:cNvSpPr txBox="1"/>
          <p:nvPr/>
        </p:nvSpPr>
        <p:spPr>
          <a:xfrm>
            <a:off x="7333488" y="2350008"/>
            <a:ext cx="402336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your laptop, a colleague's, the cloud</a:t>
            </a:r>
          </a:p>
        </p:txBody>
      </p:sp>
      <p:sp>
        <p:nvSpPr>
          <p:cNvPr id="9" name="Rounded Rectangle 8"/>
          <p:cNvSpPr/>
          <p:nvPr/>
        </p:nvSpPr>
        <p:spPr>
          <a:xfrm>
            <a:off x="7059168" y="3008376"/>
            <a:ext cx="4480560" cy="1060704"/>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33488" y="3191256"/>
            <a:ext cx="40233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Dependencies before code</a:t>
            </a:r>
          </a:p>
        </p:txBody>
      </p:sp>
      <p:sp>
        <p:nvSpPr>
          <p:cNvPr id="11" name="TextBox 10"/>
          <p:cNvSpPr txBox="1"/>
          <p:nvPr/>
        </p:nvSpPr>
        <p:spPr>
          <a:xfrm>
            <a:off x="7333488" y="3575304"/>
            <a:ext cx="402336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a code change does not reinstall them</a:t>
            </a:r>
          </a:p>
        </p:txBody>
      </p:sp>
      <p:sp>
        <p:nvSpPr>
          <p:cNvPr id="12" name="Rounded Rectangle 11"/>
          <p:cNvSpPr/>
          <p:nvPr/>
        </p:nvSpPr>
        <p:spPr>
          <a:xfrm>
            <a:off x="7059168" y="4233672"/>
            <a:ext cx="4480560" cy="1060704"/>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33488" y="4416552"/>
            <a:ext cx="4023360" cy="320040"/>
          </a:xfrm>
          <a:prstGeom prst="rect">
            <a:avLst/>
          </a:prstGeom>
          <a:noFill/>
        </p:spPr>
        <p:txBody>
          <a:bodyPr wrap="square" anchor="t" lIns="0" rIns="0" tIns="0" bIns="0">
            <a:spAutoFit/>
          </a:bodyPr>
          <a:lstStyle/>
          <a:p>
            <a:pPr algn="l">
              <a:lnSpc>
                <a:spcPct val="100000"/>
              </a:lnSpc>
            </a:pPr>
            <a:r>
              <a:rPr sz="1600" b="1">
                <a:solidFill>
                  <a:srgbClr val="1E8E3E"/>
                </a:solidFill>
                <a:latin typeface="Arial"/>
              </a:rPr>
              <a:t>No secrets inside</a:t>
            </a:r>
          </a:p>
        </p:txBody>
      </p:sp>
      <p:sp>
        <p:nvSpPr>
          <p:cNvPr id="14" name="TextBox 13"/>
          <p:cNvSpPr txBox="1"/>
          <p:nvPr/>
        </p:nvSpPr>
        <p:spPr>
          <a:xfrm>
            <a:off x="7333488" y="4800600"/>
            <a:ext cx="402336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keys stay out; the platform signs the calls</a:t>
            </a:r>
          </a:p>
        </p:txBody>
      </p:sp>
      <p:sp>
        <p:nvSpPr>
          <p:cNvPr id="15" name="TextBox 14"/>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If it runs in the container here, </a:t>
            </a:r>
            <a:r>
              <a:rPr sz="2400" b="1">
                <a:solidFill>
                  <a:srgbClr val="202124"/>
                </a:solidFill>
                <a:latin typeface="Arial"/>
              </a:rPr>
              <a:t>it runs in the container there.</a:t>
            </a:r>
          </a:p>
        </p:txBody>
      </p:sp>
      <p:sp>
        <p:nvSpPr>
          <p:cNvPr id="16" name="Rectangle 15"/>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1" name="TextBox 20"/>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SCALING</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How Cloud Run decides to add copies</a:t>
            </a:r>
          </a:p>
        </p:txBody>
      </p:sp>
      <p:sp>
        <p:nvSpPr>
          <p:cNvPr id="4" name="Oval 3"/>
          <p:cNvSpPr/>
          <p:nvPr/>
        </p:nvSpPr>
        <p:spPr>
          <a:xfrm>
            <a:off x="850392" y="2157984"/>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34440" y="2157984"/>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618488" y="2157984"/>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002536" y="2157984"/>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0392" y="2542032"/>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34440" y="2542032"/>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18488" y="2542032"/>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02536" y="2542032"/>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154680"/>
            <a:ext cx="201168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requests arriving</a:t>
            </a:r>
          </a:p>
        </p:txBody>
      </p:sp>
      <p:cxnSp>
        <p:nvCxnSpPr>
          <p:cNvPr id="13" name="Connector 12"/>
          <p:cNvCxnSpPr/>
          <p:nvPr/>
        </p:nvCxnSpPr>
        <p:spPr>
          <a:xfrm>
            <a:off x="2761488" y="2468880"/>
            <a:ext cx="914400" cy="0"/>
          </a:xfrm>
          <a:prstGeom prst="line">
            <a:avLst/>
          </a:prstGeom>
          <a:ln w="254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858768" y="2011680"/>
            <a:ext cx="1417320" cy="91440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1E8E3E"/>
                </a:solidFill>
                <a:latin typeface="Arial"/>
              </a:rPr>
              <a:t>Instance 1</a:t>
            </a:r>
          </a:p>
        </p:txBody>
      </p:sp>
      <p:sp>
        <p:nvSpPr>
          <p:cNvPr id="15" name="Rounded Rectangle 14"/>
          <p:cNvSpPr/>
          <p:nvPr/>
        </p:nvSpPr>
        <p:spPr>
          <a:xfrm>
            <a:off x="5458968" y="2011680"/>
            <a:ext cx="1417320" cy="91440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1E8E3E"/>
                </a:solidFill>
                <a:latin typeface="Arial"/>
              </a:rPr>
              <a:t>Instance 2</a:t>
            </a:r>
          </a:p>
        </p:txBody>
      </p:sp>
      <p:sp>
        <p:nvSpPr>
          <p:cNvPr id="16" name="Rounded Rectangle 15"/>
          <p:cNvSpPr/>
          <p:nvPr/>
        </p:nvSpPr>
        <p:spPr>
          <a:xfrm>
            <a:off x="7059168" y="2011680"/>
            <a:ext cx="1417320" cy="9144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9AA0A6"/>
                </a:solidFill>
                <a:latin typeface="Arial"/>
              </a:rPr>
              <a:t>Instance 3</a:t>
            </a:r>
          </a:p>
        </p:txBody>
      </p:sp>
      <p:sp>
        <p:nvSpPr>
          <p:cNvPr id="17" name="TextBox 16"/>
          <p:cNvSpPr txBox="1"/>
          <p:nvPr/>
        </p:nvSpPr>
        <p:spPr>
          <a:xfrm>
            <a:off x="3858768" y="3154680"/>
            <a:ext cx="640080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each takes a few at a time; a new one starts when they are full</a:t>
            </a:r>
          </a:p>
        </p:txBody>
      </p:sp>
      <p:sp>
        <p:nvSpPr>
          <p:cNvPr id="18" name="Rounded Rectangle 17"/>
          <p:cNvSpPr/>
          <p:nvPr/>
        </p:nvSpPr>
        <p:spPr>
          <a:xfrm>
            <a:off x="658368" y="3840480"/>
            <a:ext cx="2514600" cy="132588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05072"/>
            <a:ext cx="2002536"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Concurrency</a:t>
            </a:r>
          </a:p>
        </p:txBody>
      </p:sp>
      <p:sp>
        <p:nvSpPr>
          <p:cNvPr id="20" name="TextBox 19"/>
          <p:cNvSpPr txBox="1"/>
          <p:nvPr/>
        </p:nvSpPr>
        <p:spPr>
          <a:xfrm>
            <a:off x="914400" y="4389120"/>
            <a:ext cx="2002536" cy="731520"/>
          </a:xfrm>
          <a:prstGeom prst="rect">
            <a:avLst/>
          </a:prstGeom>
          <a:noFill/>
        </p:spPr>
        <p:txBody>
          <a:bodyPr wrap="square" anchor="t" lIns="0" rIns="0" tIns="0" bIns="0">
            <a:spAutoFit/>
          </a:bodyPr>
          <a:lstStyle/>
          <a:p>
            <a:pPr algn="l">
              <a:lnSpc>
                <a:spcPct val="130000"/>
              </a:lnSpc>
            </a:pPr>
            <a:r>
              <a:rPr sz="1200" b="0">
                <a:solidFill>
                  <a:srgbClr val="5F6368"/>
                </a:solidFill>
                <a:latin typeface="Arial"/>
              </a:rPr>
              <a:t>requests one instance</a:t>
            </a:r>
          </a:p>
          <a:p>
            <a:pPr algn="l">
              <a:lnSpc>
                <a:spcPct val="130000"/>
              </a:lnSpc>
            </a:pPr>
            <a:r>
              <a:rPr sz="1200" b="0">
                <a:solidFill>
                  <a:srgbClr val="5F6368"/>
                </a:solidFill>
                <a:latin typeface="Arial"/>
              </a:rPr>
              <a:t>handles at once</a:t>
            </a:r>
          </a:p>
        </p:txBody>
      </p:sp>
      <p:sp>
        <p:nvSpPr>
          <p:cNvPr id="21" name="Rounded Rectangle 20"/>
          <p:cNvSpPr/>
          <p:nvPr/>
        </p:nvSpPr>
        <p:spPr>
          <a:xfrm>
            <a:off x="3447288" y="3840480"/>
            <a:ext cx="2514600" cy="132588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03320" y="4005072"/>
            <a:ext cx="2002536"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Max instances</a:t>
            </a:r>
          </a:p>
        </p:txBody>
      </p:sp>
      <p:sp>
        <p:nvSpPr>
          <p:cNvPr id="23" name="TextBox 22"/>
          <p:cNvSpPr txBox="1"/>
          <p:nvPr/>
        </p:nvSpPr>
        <p:spPr>
          <a:xfrm>
            <a:off x="3703320" y="4389120"/>
            <a:ext cx="2002536" cy="731520"/>
          </a:xfrm>
          <a:prstGeom prst="rect">
            <a:avLst/>
          </a:prstGeom>
          <a:noFill/>
        </p:spPr>
        <p:txBody>
          <a:bodyPr wrap="square" anchor="t" lIns="0" rIns="0" tIns="0" bIns="0">
            <a:spAutoFit/>
          </a:bodyPr>
          <a:lstStyle/>
          <a:p>
            <a:pPr algn="l">
              <a:lnSpc>
                <a:spcPct val="130000"/>
              </a:lnSpc>
            </a:pPr>
            <a:r>
              <a:rPr sz="1200" b="0">
                <a:solidFill>
                  <a:srgbClr val="5F6368"/>
                </a:solidFill>
                <a:latin typeface="Arial"/>
              </a:rPr>
              <a:t>the ceiling, and the cap</a:t>
            </a:r>
          </a:p>
          <a:p>
            <a:pPr algn="l">
              <a:lnSpc>
                <a:spcPct val="130000"/>
              </a:lnSpc>
            </a:pPr>
            <a:r>
              <a:rPr sz="1200" b="0">
                <a:solidFill>
                  <a:srgbClr val="5F6368"/>
                </a:solidFill>
                <a:latin typeface="Arial"/>
              </a:rPr>
              <a:t>on your bill</a:t>
            </a:r>
          </a:p>
        </p:txBody>
      </p:sp>
      <p:sp>
        <p:nvSpPr>
          <p:cNvPr id="24" name="Rounded Rectangle 23"/>
          <p:cNvSpPr/>
          <p:nvPr/>
        </p:nvSpPr>
        <p:spPr>
          <a:xfrm>
            <a:off x="6236208" y="3840480"/>
            <a:ext cx="2514600" cy="132588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4005072"/>
            <a:ext cx="2002536"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Min instances</a:t>
            </a:r>
          </a:p>
        </p:txBody>
      </p:sp>
      <p:sp>
        <p:nvSpPr>
          <p:cNvPr id="26" name="TextBox 25"/>
          <p:cNvSpPr txBox="1"/>
          <p:nvPr/>
        </p:nvSpPr>
        <p:spPr>
          <a:xfrm>
            <a:off x="6492240" y="4389120"/>
            <a:ext cx="2002536" cy="731520"/>
          </a:xfrm>
          <a:prstGeom prst="rect">
            <a:avLst/>
          </a:prstGeom>
          <a:noFill/>
        </p:spPr>
        <p:txBody>
          <a:bodyPr wrap="square" anchor="t" lIns="0" rIns="0" tIns="0" bIns="0">
            <a:spAutoFit/>
          </a:bodyPr>
          <a:lstStyle/>
          <a:p>
            <a:pPr algn="l">
              <a:lnSpc>
                <a:spcPct val="130000"/>
              </a:lnSpc>
            </a:pPr>
            <a:r>
              <a:rPr sz="1200" b="0">
                <a:solidFill>
                  <a:srgbClr val="5F6368"/>
                </a:solidFill>
                <a:latin typeface="Arial"/>
              </a:rPr>
              <a:t>zero is free when idle,</a:t>
            </a:r>
          </a:p>
          <a:p>
            <a:pPr algn="l">
              <a:lnSpc>
                <a:spcPct val="130000"/>
              </a:lnSpc>
            </a:pPr>
            <a:r>
              <a:rPr sz="1200" b="0">
                <a:solidFill>
                  <a:srgbClr val="5F6368"/>
                </a:solidFill>
                <a:latin typeface="Arial"/>
              </a:rPr>
              <a:t>and slow on the first request</a:t>
            </a:r>
          </a:p>
        </p:txBody>
      </p:sp>
      <p:sp>
        <p:nvSpPr>
          <p:cNvPr id="27" name="Rounded Rectangle 26"/>
          <p:cNvSpPr/>
          <p:nvPr/>
        </p:nvSpPr>
        <p:spPr>
          <a:xfrm>
            <a:off x="9025128" y="3840480"/>
            <a:ext cx="2514600" cy="132588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81160" y="4005072"/>
            <a:ext cx="2002536"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Cold start</a:t>
            </a:r>
          </a:p>
        </p:txBody>
      </p:sp>
      <p:sp>
        <p:nvSpPr>
          <p:cNvPr id="29" name="TextBox 28"/>
          <p:cNvSpPr txBox="1"/>
          <p:nvPr/>
        </p:nvSpPr>
        <p:spPr>
          <a:xfrm>
            <a:off x="9281160" y="4389120"/>
            <a:ext cx="2002536" cy="731520"/>
          </a:xfrm>
          <a:prstGeom prst="rect">
            <a:avLst/>
          </a:prstGeom>
          <a:noFill/>
        </p:spPr>
        <p:txBody>
          <a:bodyPr wrap="square" anchor="t" lIns="0" rIns="0" tIns="0" bIns="0">
            <a:spAutoFit/>
          </a:bodyPr>
          <a:lstStyle/>
          <a:p>
            <a:pPr algn="l">
              <a:lnSpc>
                <a:spcPct val="130000"/>
              </a:lnSpc>
            </a:pPr>
            <a:r>
              <a:rPr sz="1200" b="0">
                <a:solidFill>
                  <a:srgbClr val="5F6368"/>
                </a:solidFill>
                <a:latin typeface="Arial"/>
              </a:rPr>
              <a:t>the wait while a new</a:t>
            </a:r>
          </a:p>
          <a:p>
            <a:pPr algn="l">
              <a:lnSpc>
                <a:spcPct val="130000"/>
              </a:lnSpc>
            </a:pPr>
            <a:r>
              <a:rPr sz="1200" b="0">
                <a:solidFill>
                  <a:srgbClr val="5F6368"/>
                </a:solidFill>
                <a:latin typeface="Arial"/>
              </a:rPr>
              <a:t>instance boots</a:t>
            </a:r>
          </a:p>
        </p:txBody>
      </p:sp>
      <p:sp>
        <p:nvSpPr>
          <p:cNvPr id="30" name="TextBox 29"/>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Concurrency × max instances = </a:t>
            </a:r>
            <a:r>
              <a:rPr sz="2400" b="1">
                <a:solidFill>
                  <a:srgbClr val="202124"/>
                </a:solidFill>
                <a:latin typeface="Arial"/>
              </a:rPr>
              <a:t>how many people fit in the room.</a:t>
            </a:r>
          </a:p>
        </p:txBody>
      </p:sp>
      <p:sp>
        <p:nvSpPr>
          <p:cNvPr id="31" name="Rectangle 30"/>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36" name="TextBox 35"/>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SCALING</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Why agents scale differently from websites</a:t>
            </a:r>
          </a:p>
        </p:txBody>
      </p:sp>
      <p:sp>
        <p:nvSpPr>
          <p:cNvPr id="4" name="Rounded Rectangle 3"/>
          <p:cNvSpPr/>
          <p:nvPr/>
        </p:nvSpPr>
        <p:spPr>
          <a:xfrm>
            <a:off x="658368" y="1828800"/>
            <a:ext cx="5254600" cy="310896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84832"/>
            <a:ext cx="4669384" cy="411480"/>
          </a:xfrm>
          <a:prstGeom prst="rect">
            <a:avLst/>
          </a:prstGeom>
          <a:noFill/>
        </p:spPr>
        <p:txBody>
          <a:bodyPr wrap="square" anchor="t" lIns="0" rIns="0" tIns="0" bIns="0">
            <a:spAutoFit/>
          </a:bodyPr>
          <a:lstStyle/>
          <a:p>
            <a:pPr algn="l">
              <a:lnSpc>
                <a:spcPct val="100000"/>
              </a:lnSpc>
            </a:pPr>
            <a:r>
              <a:rPr sz="2400" b="1">
                <a:solidFill>
                  <a:srgbClr val="202124"/>
                </a:solidFill>
                <a:latin typeface="Arial"/>
              </a:rPr>
              <a:t>A web page</a:t>
            </a:r>
          </a:p>
        </p:txBody>
      </p:sp>
      <p:sp>
        <p:nvSpPr>
          <p:cNvPr id="6" name="TextBox 5"/>
          <p:cNvSpPr txBox="1"/>
          <p:nvPr/>
        </p:nvSpPr>
        <p:spPr>
          <a:xfrm>
            <a:off x="950976" y="2602992"/>
            <a:ext cx="4669384" cy="219456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answers in milliseconds</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one instance serves hundreds at once</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the slow part is your own code</a:t>
            </a:r>
          </a:p>
        </p:txBody>
      </p:sp>
      <p:sp>
        <p:nvSpPr>
          <p:cNvPr id="7" name="Rounded Rectangle 6"/>
          <p:cNvSpPr/>
          <p:nvPr/>
        </p:nvSpPr>
        <p:spPr>
          <a:xfrm>
            <a:off x="6278728" y="1828800"/>
            <a:ext cx="5254600" cy="3108960"/>
          </a:xfrm>
          <a:prstGeom prst="roundRect">
            <a:avLst>
              <a:gd name="adj" fmla="val 16000"/>
            </a:avLst>
          </a:prstGeom>
          <a:solidFill>
            <a:srgbClr val="E8F0FE"/>
          </a:solidFill>
          <a:ln w="1587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71336" y="2084832"/>
            <a:ext cx="4669384" cy="411480"/>
          </a:xfrm>
          <a:prstGeom prst="rect">
            <a:avLst/>
          </a:prstGeom>
          <a:noFill/>
        </p:spPr>
        <p:txBody>
          <a:bodyPr wrap="square" anchor="t" lIns="0" rIns="0" tIns="0" bIns="0">
            <a:spAutoFit/>
          </a:bodyPr>
          <a:lstStyle/>
          <a:p>
            <a:pPr algn="l">
              <a:lnSpc>
                <a:spcPct val="100000"/>
              </a:lnSpc>
            </a:pPr>
            <a:r>
              <a:rPr sz="2400" b="1">
                <a:solidFill>
                  <a:srgbClr val="174EA6"/>
                </a:solidFill>
                <a:latin typeface="Arial"/>
              </a:rPr>
              <a:t>An agent turn</a:t>
            </a:r>
          </a:p>
        </p:txBody>
      </p:sp>
      <p:sp>
        <p:nvSpPr>
          <p:cNvPr id="9" name="TextBox 8"/>
          <p:cNvSpPr txBox="1"/>
          <p:nvPr/>
        </p:nvSpPr>
        <p:spPr>
          <a:xfrm>
            <a:off x="6571336" y="2602992"/>
            <a:ext cx="4669384" cy="2194560"/>
          </a:xfrm>
          <a:prstGeom prst="rect">
            <a:avLst/>
          </a:prstGeom>
          <a:noFill/>
        </p:spPr>
        <p:txBody>
          <a:bodyPr wrap="square" anchor="t" lIns="0" rIns="0" tIns="0" bIns="0">
            <a:spAutoFit/>
          </a:bodyPr>
          <a:lstStyle/>
          <a:p>
            <a:pPr algn="l">
              <a:lnSpc>
                <a:spcPct val="132000"/>
              </a:lnSpc>
            </a:pPr>
            <a:r>
              <a:rPr sz="1600" b="0">
                <a:solidFill>
                  <a:srgbClr val="5F6368"/>
                </a:solidFill>
                <a:latin typeface="Arial"/>
              </a:rPr>
              <a:t>holds the request open for many seconds</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so concurrency per instance stays low</a:t>
            </a:r>
          </a:p>
          <a:p>
            <a:pPr algn="l">
              <a:lnSpc>
                <a:spcPct val="132000"/>
              </a:lnSpc>
            </a:pPr>
            <a:r>
              <a:rPr sz="1600" b="0">
                <a:solidFill>
                  <a:srgbClr val="5F6368"/>
                </a:solidFill>
                <a:latin typeface="Arial"/>
              </a:rPr>
              <a:t/>
            </a:r>
          </a:p>
          <a:p>
            <a:pPr algn="l">
              <a:lnSpc>
                <a:spcPct val="132000"/>
              </a:lnSpc>
            </a:pPr>
            <a:r>
              <a:rPr sz="1600" b="0">
                <a:solidFill>
                  <a:srgbClr val="5F6368"/>
                </a:solidFill>
                <a:latin typeface="Arial"/>
              </a:rPr>
              <a:t>the slow part is the model, which you do not run</a:t>
            </a:r>
          </a:p>
        </p:txBody>
      </p:sp>
      <p:sp>
        <p:nvSpPr>
          <p:cNvPr id="10" name="TextBox 9"/>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Adding instances does not help </a:t>
            </a:r>
            <a:r>
              <a:rPr sz="2400" b="1">
                <a:solidFill>
                  <a:srgbClr val="202124"/>
                </a:solidFill>
                <a:latin typeface="Arial"/>
              </a:rPr>
              <a:t>if the model is the one saying wait.</a:t>
            </a:r>
          </a:p>
        </p:txBody>
      </p:sp>
      <p:sp>
        <p:nvSpPr>
          <p:cNvPr id="11" name="Rectangle 10"/>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16" name="TextBox 15"/>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STATE</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The bug with no error message</a:t>
            </a:r>
          </a:p>
        </p:txBody>
      </p:sp>
      <p:sp>
        <p:nvSpPr>
          <p:cNvPr id="4" name="Rounded Rectangle 3"/>
          <p:cNvSpPr/>
          <p:nvPr/>
        </p:nvSpPr>
        <p:spPr>
          <a:xfrm>
            <a:off x="658368" y="2788920"/>
            <a:ext cx="2011680" cy="118872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202124"/>
                </a:solidFill>
                <a:latin typeface="Arial"/>
              </a:rPr>
              <a:t>Asha</a:t>
            </a:r>
          </a:p>
          <a:p>
            <a:pPr algn="ctr">
              <a:lnSpc>
                <a:spcPct val="100000"/>
              </a:lnSpc>
            </a:pPr>
            <a:r>
              <a:rPr sz="1200">
                <a:solidFill>
                  <a:srgbClr val="5F6368"/>
                </a:solidFill>
                <a:latin typeface="Arial"/>
              </a:rPr>
              <a:t>one chat, two messages</a:t>
            </a:r>
          </a:p>
        </p:txBody>
      </p:sp>
      <p:sp>
        <p:nvSpPr>
          <p:cNvPr id="5" name="Rounded Rectangle 4"/>
          <p:cNvSpPr/>
          <p:nvPr/>
        </p:nvSpPr>
        <p:spPr>
          <a:xfrm>
            <a:off x="6693408" y="1828800"/>
            <a:ext cx="4846320" cy="1325880"/>
          </a:xfrm>
          <a:prstGeom prst="roundRect">
            <a:avLst>
              <a:gd name="adj" fmla="val 16000"/>
            </a:avLst>
          </a:prstGeom>
          <a:solidFill>
            <a:srgbClr val="E6F4EA"/>
          </a:solidFill>
          <a:ln w="15875">
            <a:solidFill>
              <a:srgbClr val="1E8E3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1E8E3E"/>
                </a:solidFill>
                <a:latin typeface="Arial"/>
              </a:rPr>
              <a:t>Instance A</a:t>
            </a:r>
          </a:p>
          <a:p>
            <a:pPr algn="ctr">
              <a:lnSpc>
                <a:spcPct val="100000"/>
              </a:lnSpc>
            </a:pPr>
            <a:r>
              <a:rPr sz="1200">
                <a:solidFill>
                  <a:srgbClr val="5F6368"/>
                </a:solidFill>
                <a:latin typeface="Arial"/>
              </a:rPr>
              <a:t>"Asha. Got it."   kept in its own memory</a:t>
            </a:r>
          </a:p>
        </p:txBody>
      </p:sp>
      <p:sp>
        <p:nvSpPr>
          <p:cNvPr id="6" name="Rounded Rectangle 5"/>
          <p:cNvSpPr/>
          <p:nvPr/>
        </p:nvSpPr>
        <p:spPr>
          <a:xfrm>
            <a:off x="6693408" y="3657600"/>
            <a:ext cx="4846320" cy="1325880"/>
          </a:xfrm>
          <a:prstGeom prst="roundRect">
            <a:avLst>
              <a:gd name="adj" fmla="val 16000"/>
            </a:avLst>
          </a:prstGeom>
          <a:solidFill>
            <a:srgbClr val="FCE8E6"/>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D93025"/>
                </a:solidFill>
                <a:latin typeface="Arial"/>
              </a:rPr>
              <a:t>Instance B</a:t>
            </a:r>
          </a:p>
          <a:p>
            <a:pPr algn="ctr">
              <a:lnSpc>
                <a:spcPct val="100000"/>
              </a:lnSpc>
            </a:pPr>
            <a:r>
              <a:rPr sz="1200">
                <a:solidFill>
                  <a:srgbClr val="5F6368"/>
                </a:solidFill>
                <a:latin typeface="Arial"/>
              </a:rPr>
              <a:t>"I don't know your name."   never met her</a:t>
            </a:r>
          </a:p>
        </p:txBody>
      </p:sp>
      <p:cxnSp>
        <p:nvCxnSpPr>
          <p:cNvPr id="7" name="Connector 6"/>
          <p:cNvCxnSpPr/>
          <p:nvPr/>
        </p:nvCxnSpPr>
        <p:spPr>
          <a:xfrm flipV="1">
            <a:off x="2715768" y="2487168"/>
            <a:ext cx="3931920" cy="713232"/>
          </a:xfrm>
          <a:prstGeom prst="line">
            <a:avLst/>
          </a:prstGeom>
          <a:ln w="254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15768" y="3566160"/>
            <a:ext cx="3931920" cy="749808"/>
          </a:xfrm>
          <a:prstGeom prst="line">
            <a:avLst/>
          </a:prstGeom>
          <a:ln w="254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310128" y="2240280"/>
            <a:ext cx="310896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1.  "Hi, my name is Asha."</a:t>
            </a:r>
          </a:p>
        </p:txBody>
      </p:sp>
      <p:sp>
        <p:nvSpPr>
          <p:cNvPr id="10" name="TextBox 9"/>
          <p:cNvSpPr txBox="1"/>
          <p:nvPr/>
        </p:nvSpPr>
        <p:spPr>
          <a:xfrm>
            <a:off x="3310128" y="4343400"/>
            <a:ext cx="3108960" cy="274320"/>
          </a:xfrm>
          <a:prstGeom prst="rect">
            <a:avLst/>
          </a:prstGeom>
          <a:noFill/>
        </p:spPr>
        <p:txBody>
          <a:bodyPr wrap="square" anchor="t" lIns="0" rIns="0" tIns="0" bIns="0">
            <a:spAutoFit/>
          </a:bodyPr>
          <a:lstStyle/>
          <a:p>
            <a:pPr algn="l">
              <a:lnSpc>
                <a:spcPct val="100000"/>
              </a:lnSpc>
            </a:pPr>
            <a:r>
              <a:rPr sz="1200" b="0">
                <a:solidFill>
                  <a:srgbClr val="5F6368"/>
                </a:solidFill>
                <a:latin typeface="Arial"/>
              </a:rPr>
              <a:t>2.  "What is my name?"</a:t>
            </a:r>
          </a:p>
        </p:txBody>
      </p:sp>
      <p:sp>
        <p:nvSpPr>
          <p:cNvPr id="11" name="TextBox 10"/>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Each instance keeps its own diary. </a:t>
            </a:r>
            <a:r>
              <a:rPr sz="2400" b="1">
                <a:solidFill>
                  <a:srgbClr val="202124"/>
                </a:solidFill>
                <a:latin typeface="Arial"/>
              </a:rPr>
              <a:t>Nobody shares.</a:t>
            </a:r>
          </a:p>
        </p:txBody>
      </p:sp>
      <p:sp>
        <p:nvSpPr>
          <p:cNvPr id="12" name="Rectangle 11"/>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17" name="TextBox 16"/>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STATE</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Move the memory out of the instance</a:t>
            </a:r>
          </a:p>
        </p:txBody>
      </p:sp>
      <p:sp>
        <p:nvSpPr>
          <p:cNvPr id="4" name="Rounded Rectangle 3"/>
          <p:cNvSpPr/>
          <p:nvPr/>
        </p:nvSpPr>
        <p:spPr>
          <a:xfrm>
            <a:off x="932688" y="1920240"/>
            <a:ext cx="1691640" cy="9144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202124"/>
                </a:solidFill>
                <a:latin typeface="Arial"/>
              </a:rPr>
              <a:t>Instance 1</a:t>
            </a:r>
          </a:p>
        </p:txBody>
      </p:sp>
      <p:cxnSp>
        <p:nvCxnSpPr>
          <p:cNvPr id="5" name="Connector 4"/>
          <p:cNvCxnSpPr/>
          <p:nvPr/>
        </p:nvCxnSpPr>
        <p:spPr>
          <a:xfrm>
            <a:off x="1773936" y="2852928"/>
            <a:ext cx="1901952" cy="850392"/>
          </a:xfrm>
          <a:prstGeom prst="line">
            <a:avLst/>
          </a:prstGeom>
          <a:ln w="222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852928" y="1920240"/>
            <a:ext cx="1691640" cy="9144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202124"/>
                </a:solidFill>
                <a:latin typeface="Arial"/>
              </a:rPr>
              <a:t>Instance 2</a:t>
            </a:r>
          </a:p>
        </p:txBody>
      </p:sp>
      <p:cxnSp>
        <p:nvCxnSpPr>
          <p:cNvPr id="7" name="Connector 6"/>
          <p:cNvCxnSpPr/>
          <p:nvPr/>
        </p:nvCxnSpPr>
        <p:spPr>
          <a:xfrm flipH="1">
            <a:off x="3675888" y="2852928"/>
            <a:ext cx="18288" cy="850392"/>
          </a:xfrm>
          <a:prstGeom prst="line">
            <a:avLst/>
          </a:prstGeom>
          <a:ln w="222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773168" y="1920240"/>
            <a:ext cx="1691640" cy="9144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1200" b="1">
                <a:solidFill>
                  <a:srgbClr val="202124"/>
                </a:solidFill>
                <a:latin typeface="Arial"/>
              </a:rPr>
              <a:t>Instance 3</a:t>
            </a:r>
          </a:p>
        </p:txBody>
      </p:sp>
      <p:cxnSp>
        <p:nvCxnSpPr>
          <p:cNvPr id="9" name="Connector 8"/>
          <p:cNvCxnSpPr/>
          <p:nvPr/>
        </p:nvCxnSpPr>
        <p:spPr>
          <a:xfrm flipH="1">
            <a:off x="3675888" y="2852928"/>
            <a:ext cx="1938528" cy="850392"/>
          </a:xfrm>
          <a:prstGeom prst="line">
            <a:avLst/>
          </a:prstGeom>
          <a:ln w="222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21408" y="3749039"/>
            <a:ext cx="3200400" cy="1188720"/>
          </a:xfrm>
          <a:prstGeom prst="roundRect">
            <a:avLst>
              <a:gd name="adj" fmla="val 16000"/>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lstStyle/>
          <a:p>
            <a:pPr algn="ctr">
              <a:lnSpc>
                <a:spcPct val="100000"/>
              </a:lnSpc>
            </a:pPr>
            <a:r>
              <a:rPr sz="2400" b="1">
                <a:solidFill>
                  <a:srgbClr val="FFFFFF"/>
                </a:solidFill>
                <a:latin typeface="Arial"/>
              </a:rPr>
              <a:t>A shared store</a:t>
            </a:r>
          </a:p>
          <a:p>
            <a:pPr algn="ctr">
              <a:lnSpc>
                <a:spcPct val="100000"/>
              </a:lnSpc>
            </a:pPr>
            <a:r>
              <a:rPr sz="1200">
                <a:solidFill>
                  <a:srgbClr val="D2E3FC"/>
                </a:solidFill>
                <a:latin typeface="Arial"/>
              </a:rPr>
              <a:t>Firestore, a database, managed sessions</a:t>
            </a:r>
          </a:p>
        </p:txBody>
      </p:sp>
      <p:sp>
        <p:nvSpPr>
          <p:cNvPr id="11" name="Rounded Rectangle 10"/>
          <p:cNvSpPr/>
          <p:nvPr/>
        </p:nvSpPr>
        <p:spPr>
          <a:xfrm>
            <a:off x="6949440" y="1874519"/>
            <a:ext cx="4572000" cy="310896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80" y="2103120"/>
            <a:ext cx="3931920" cy="274320"/>
          </a:xfrm>
          <a:prstGeom prst="rect">
            <a:avLst/>
          </a:prstGeom>
          <a:noFill/>
        </p:spPr>
        <p:txBody>
          <a:bodyPr wrap="square" anchor="t" lIns="0" rIns="0" tIns="0" bIns="0">
            <a:spAutoFit/>
          </a:bodyPr>
          <a:lstStyle/>
          <a:p>
            <a:pPr algn="l">
              <a:lnSpc>
                <a:spcPct val="100000"/>
              </a:lnSpc>
            </a:pPr>
            <a:r>
              <a:rPr sz="950" b="1">
                <a:solidFill>
                  <a:srgbClr val="9AA0A6"/>
                </a:solidFill>
                <a:latin typeface="Arial"/>
              </a:rPr>
              <a:t>FROM OUR REHEARSAL, 20 USERS AT ONCE</a:t>
            </a:r>
          </a:p>
        </p:txBody>
      </p:sp>
      <p:sp>
        <p:nvSpPr>
          <p:cNvPr id="13" name="TextBox 12"/>
          <p:cNvSpPr txBox="1"/>
          <p:nvPr/>
        </p:nvSpPr>
        <p:spPr>
          <a:xfrm>
            <a:off x="7269480" y="2514600"/>
            <a:ext cx="3931920" cy="1737360"/>
          </a:xfrm>
          <a:prstGeom prst="rect">
            <a:avLst/>
          </a:prstGeom>
          <a:noFill/>
        </p:spPr>
        <p:txBody>
          <a:bodyPr wrap="square" lIns="0" rIns="0" tIns="0" bIns="0">
            <a:spAutoFit/>
          </a:bodyPr>
          <a:lstStyle/>
          <a:p>
            <a:pPr algn="l">
              <a:lnSpc>
                <a:spcPct val="125000"/>
              </a:lnSpc>
            </a:pPr>
            <a:r>
              <a:rPr sz="2000" b="1">
                <a:solidFill>
                  <a:srgbClr val="D93025"/>
                </a:solidFill>
                <a:latin typeface="Arial"/>
              </a:rPr>
              <a:t>3 of 20</a:t>
            </a:r>
            <a:r>
              <a:rPr sz="2000" b="0">
                <a:solidFill>
                  <a:srgbClr val="5F6368"/>
                </a:solidFill>
                <a:latin typeface="Arial"/>
              </a:rPr>
              <a:t>  remembered</a:t>
            </a:r>
          </a:p>
          <a:p>
            <a:pPr algn="l">
              <a:lnSpc>
                <a:spcPct val="125000"/>
              </a:lnSpc>
            </a:pPr>
            <a:r>
              <a:rPr sz="2000" b="0">
                <a:solidFill>
                  <a:srgbClr val="5F6368"/>
                </a:solidFill>
                <a:latin typeface="Arial"/>
              </a:rPr>
              <a:t>memory inside the instance</a:t>
            </a:r>
          </a:p>
          <a:p>
            <a:pPr algn="l">
              <a:lnSpc>
                <a:spcPct val="125000"/>
              </a:lnSpc>
            </a:pPr>
            <a:r>
              <a:rPr sz="2000" b="1">
                <a:solidFill>
                  <a:srgbClr val="1E8E3E"/>
                </a:solidFill>
                <a:latin typeface="Arial"/>
              </a:rPr>
              <a:t>19 of 20</a:t>
            </a:r>
            <a:r>
              <a:rPr sz="2000" b="0">
                <a:solidFill>
                  <a:srgbClr val="5F6368"/>
                </a:solidFill>
                <a:latin typeface="Arial"/>
              </a:rPr>
              <a:t>  remembered</a:t>
            </a:r>
          </a:p>
          <a:p>
            <a:pPr algn="l">
              <a:lnSpc>
                <a:spcPct val="125000"/>
              </a:lnSpc>
            </a:pPr>
            <a:r>
              <a:rPr sz="2000" b="0">
                <a:solidFill>
                  <a:srgbClr val="5F6368"/>
                </a:solidFill>
                <a:latin typeface="Arial"/>
              </a:rPr>
              <a:t>memory in Firestore</a:t>
            </a:r>
          </a:p>
        </p:txBody>
      </p:sp>
      <p:sp>
        <p:nvSpPr>
          <p:cNvPr id="14" name="TextBox 13"/>
          <p:cNvSpPr txBox="1"/>
          <p:nvPr/>
        </p:nvSpPr>
        <p:spPr>
          <a:xfrm>
            <a:off x="7269480" y="4434840"/>
            <a:ext cx="3931920" cy="457200"/>
          </a:xfrm>
          <a:prstGeom prst="rect">
            <a:avLst/>
          </a:prstGeom>
          <a:noFill/>
        </p:spPr>
        <p:txBody>
          <a:bodyPr wrap="square" anchor="t" lIns="0" rIns="0" tIns="0" bIns="0">
            <a:spAutoFit/>
          </a:bodyPr>
          <a:lstStyle/>
          <a:p>
            <a:pPr algn="l">
              <a:lnSpc>
                <a:spcPct val="130000"/>
              </a:lnSpc>
            </a:pPr>
            <a:r>
              <a:rPr sz="1200" b="0">
                <a:solidFill>
                  <a:srgbClr val="5F6368"/>
                </a:solidFill>
                <a:latin typeface="Arial"/>
              </a:rPr>
              <a:t>The twentieth request was refused</a:t>
            </a:r>
          </a:p>
          <a:p>
            <a:pPr algn="l">
              <a:lnSpc>
                <a:spcPct val="130000"/>
              </a:lnSpc>
            </a:pPr>
            <a:r>
              <a:rPr sz="1200" b="0">
                <a:solidFill>
                  <a:srgbClr val="5F6368"/>
                </a:solidFill>
                <a:latin typeface="Arial"/>
              </a:rPr>
              <a:t>at the instance ceiling.</a:t>
            </a:r>
          </a:p>
        </p:txBody>
      </p:sp>
      <p:sp>
        <p:nvSpPr>
          <p:cNvPr id="15" name="TextBox 14"/>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Instances that hold nothing </a:t>
            </a:r>
            <a:r>
              <a:rPr sz="2400" b="1">
                <a:solidFill>
                  <a:srgbClr val="202124"/>
                </a:solidFill>
                <a:latin typeface="Arial"/>
              </a:rPr>
              <a:t>can be added and removed freely.</a:t>
            </a:r>
          </a:p>
        </p:txBody>
      </p:sp>
      <p:sp>
        <p:nvSpPr>
          <p:cNvPr id="16" name="Rectangle 15"/>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1" name="TextBox 20"/>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WHAT GOES WRONG</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Five things that bite when you scale an agent</a:t>
            </a:r>
          </a:p>
        </p:txBody>
      </p:sp>
      <p:sp>
        <p:nvSpPr>
          <p:cNvPr id="4" name="Rounded Rectangle 3"/>
          <p:cNvSpPr/>
          <p:nvPr/>
        </p:nvSpPr>
        <p:spPr>
          <a:xfrm>
            <a:off x="658368" y="1783080"/>
            <a:ext cx="10874959" cy="621792"/>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956816"/>
            <a:ext cx="3566160" cy="320040"/>
          </a:xfrm>
          <a:prstGeom prst="rect">
            <a:avLst/>
          </a:prstGeom>
          <a:noFill/>
        </p:spPr>
        <p:txBody>
          <a:bodyPr wrap="square" anchor="t" lIns="0" rIns="0" tIns="0" bIns="0">
            <a:spAutoFit/>
          </a:bodyPr>
          <a:lstStyle/>
          <a:p>
            <a:pPr algn="l">
              <a:lnSpc>
                <a:spcPct val="100000"/>
              </a:lnSpc>
            </a:pPr>
            <a:r>
              <a:rPr sz="1600" b="1">
                <a:solidFill>
                  <a:srgbClr val="D93025"/>
                </a:solidFill>
                <a:latin typeface="Arial"/>
              </a:rPr>
              <a:t>Model rate limits</a:t>
            </a:r>
          </a:p>
        </p:txBody>
      </p:sp>
      <p:sp>
        <p:nvSpPr>
          <p:cNvPr id="6" name="TextBox 5"/>
          <p:cNvSpPr txBox="1"/>
          <p:nvPr/>
        </p:nvSpPr>
        <p:spPr>
          <a:xfrm>
            <a:off x="4681728" y="1956816"/>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429 from the provider: add retries, or reserve capacity</a:t>
            </a:r>
          </a:p>
        </p:txBody>
      </p:sp>
      <p:sp>
        <p:nvSpPr>
          <p:cNvPr id="7" name="Rounded Rectangle 6"/>
          <p:cNvSpPr/>
          <p:nvPr/>
        </p:nvSpPr>
        <p:spPr>
          <a:xfrm>
            <a:off x="658368" y="2532888"/>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706624"/>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Cold starts</a:t>
            </a:r>
          </a:p>
        </p:txBody>
      </p:sp>
      <p:sp>
        <p:nvSpPr>
          <p:cNvPr id="9" name="TextBox 8"/>
          <p:cNvSpPr txBox="1"/>
          <p:nvPr/>
        </p:nvSpPr>
        <p:spPr>
          <a:xfrm>
            <a:off x="4681728" y="2706624"/>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the first user after a quiet spell waits for a boot</a:t>
            </a:r>
          </a:p>
        </p:txBody>
      </p:sp>
      <p:sp>
        <p:nvSpPr>
          <p:cNvPr id="10" name="Rounded Rectangle 9"/>
          <p:cNvSpPr/>
          <p:nvPr/>
        </p:nvSpPr>
        <p:spPr>
          <a:xfrm>
            <a:off x="658368" y="3282696"/>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456432"/>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Long requests</a:t>
            </a:r>
          </a:p>
        </p:txBody>
      </p:sp>
      <p:sp>
        <p:nvSpPr>
          <p:cNvPr id="12" name="TextBox 11"/>
          <p:cNvSpPr txBox="1"/>
          <p:nvPr/>
        </p:nvSpPr>
        <p:spPr>
          <a:xfrm>
            <a:off x="4681728" y="3456432"/>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one turn can outlast a timeout: stream progress back</a:t>
            </a:r>
          </a:p>
        </p:txBody>
      </p:sp>
      <p:sp>
        <p:nvSpPr>
          <p:cNvPr id="13" name="Rounded Rectangle 12"/>
          <p:cNvSpPr/>
          <p:nvPr/>
        </p:nvSpPr>
        <p:spPr>
          <a:xfrm>
            <a:off x="658368" y="4032504"/>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206240"/>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Other people's APIs</a:t>
            </a:r>
          </a:p>
        </p:txBody>
      </p:sp>
      <p:sp>
        <p:nvSpPr>
          <p:cNvPr id="15" name="TextBox 14"/>
          <p:cNvSpPr txBox="1"/>
          <p:nvPr/>
        </p:nvSpPr>
        <p:spPr>
          <a:xfrm>
            <a:off x="4681728" y="4206240"/>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free services throttle or block shared cloud addresses</a:t>
            </a:r>
          </a:p>
        </p:txBody>
      </p:sp>
      <p:sp>
        <p:nvSpPr>
          <p:cNvPr id="16" name="Rounded Rectangle 15"/>
          <p:cNvSpPr/>
          <p:nvPr/>
        </p:nvSpPr>
        <p:spPr>
          <a:xfrm>
            <a:off x="658368" y="4782312"/>
            <a:ext cx="10874959" cy="62179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4956048"/>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The ceiling</a:t>
            </a:r>
          </a:p>
        </p:txBody>
      </p:sp>
      <p:sp>
        <p:nvSpPr>
          <p:cNvPr id="18" name="TextBox 17"/>
          <p:cNvSpPr txBox="1"/>
          <p:nvPr/>
        </p:nvSpPr>
        <p:spPr>
          <a:xfrm>
            <a:off x="4681728" y="4956048"/>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at max instances, new requests are refused</a:t>
            </a:r>
          </a:p>
        </p:txBody>
      </p:sp>
      <p:sp>
        <p:nvSpPr>
          <p:cNvPr id="19" name="TextBox 18"/>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We met four of the five </a:t>
            </a:r>
            <a:r>
              <a:rPr sz="2400" b="1">
                <a:solidFill>
                  <a:srgbClr val="202124"/>
                </a:solidFill>
                <a:latin typeface="Arial"/>
              </a:rPr>
              <a:t>rehearsing this workshop.</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SAFETY</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Deploying it without regretting it</a:t>
            </a:r>
          </a:p>
        </p:txBody>
      </p:sp>
      <p:sp>
        <p:nvSpPr>
          <p:cNvPr id="4" name="Rounded Rectangle 3"/>
          <p:cNvSpPr/>
          <p:nvPr/>
        </p:nvSpPr>
        <p:spPr>
          <a:xfrm>
            <a:off x="658368" y="1783080"/>
            <a:ext cx="3429000" cy="160020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002536"/>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Private by default</a:t>
            </a:r>
          </a:p>
        </p:txBody>
      </p:sp>
      <p:sp>
        <p:nvSpPr>
          <p:cNvPr id="6" name="TextBox 5"/>
          <p:cNvSpPr txBox="1"/>
          <p:nvPr/>
        </p:nvSpPr>
        <p:spPr>
          <a:xfrm>
            <a:off x="932688" y="2441448"/>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nobody calls it without</a:t>
            </a:r>
          </a:p>
          <a:p>
            <a:pPr algn="l">
              <a:lnSpc>
                <a:spcPct val="135000"/>
              </a:lnSpc>
            </a:pPr>
            <a:r>
              <a:rPr sz="1200" b="0">
                <a:solidFill>
                  <a:srgbClr val="5F6368"/>
                </a:solidFill>
                <a:latin typeface="Arial"/>
              </a:rPr>
              <a:t>proving who they are</a:t>
            </a:r>
          </a:p>
        </p:txBody>
      </p:sp>
      <p:sp>
        <p:nvSpPr>
          <p:cNvPr id="7" name="Rounded Rectangle 6"/>
          <p:cNvSpPr/>
          <p:nvPr/>
        </p:nvSpPr>
        <p:spPr>
          <a:xfrm>
            <a:off x="4389120" y="1783080"/>
            <a:ext cx="3429000" cy="160020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002536"/>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No secrets in the image</a:t>
            </a:r>
          </a:p>
        </p:txBody>
      </p:sp>
      <p:sp>
        <p:nvSpPr>
          <p:cNvPr id="9" name="TextBox 8"/>
          <p:cNvSpPr txBox="1"/>
          <p:nvPr/>
        </p:nvSpPr>
        <p:spPr>
          <a:xfrm>
            <a:off x="4663440" y="2441448"/>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use the platform's identity,</a:t>
            </a:r>
          </a:p>
          <a:p>
            <a:pPr algn="l">
              <a:lnSpc>
                <a:spcPct val="135000"/>
              </a:lnSpc>
            </a:pPr>
            <a:r>
              <a:rPr sz="1200" b="0">
                <a:solidFill>
                  <a:srgbClr val="5F6368"/>
                </a:solidFill>
                <a:latin typeface="Arial"/>
              </a:rPr>
              <a:t>not a pasted key</a:t>
            </a:r>
          </a:p>
        </p:txBody>
      </p:sp>
      <p:sp>
        <p:nvSpPr>
          <p:cNvPr id="10" name="Rounded Rectangle 9"/>
          <p:cNvSpPr/>
          <p:nvPr/>
        </p:nvSpPr>
        <p:spPr>
          <a:xfrm>
            <a:off x="8119872" y="1783080"/>
            <a:ext cx="3429000" cy="1600200"/>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94192" y="2002536"/>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 narrow service account</a:t>
            </a:r>
          </a:p>
        </p:txBody>
      </p:sp>
      <p:sp>
        <p:nvSpPr>
          <p:cNvPr id="12" name="TextBox 11"/>
          <p:cNvSpPr txBox="1"/>
          <p:nvPr/>
        </p:nvSpPr>
        <p:spPr>
          <a:xfrm>
            <a:off x="8394192" y="2441448"/>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it can call the model and the</a:t>
            </a:r>
          </a:p>
          <a:p>
            <a:pPr algn="l">
              <a:lnSpc>
                <a:spcPct val="135000"/>
              </a:lnSpc>
            </a:pPr>
            <a:r>
              <a:rPr sz="1200" b="0">
                <a:solidFill>
                  <a:srgbClr val="5F6368"/>
                </a:solidFill>
                <a:latin typeface="Arial"/>
              </a:rPr>
              <a:t>database, and nothing else</a:t>
            </a:r>
          </a:p>
        </p:txBody>
      </p:sp>
      <p:sp>
        <p:nvSpPr>
          <p:cNvPr id="13" name="Rounded Rectangle 12"/>
          <p:cNvSpPr/>
          <p:nvPr/>
        </p:nvSpPr>
        <p:spPr>
          <a:xfrm>
            <a:off x="658368" y="3639312"/>
            <a:ext cx="3429000" cy="1600200"/>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858768"/>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A ceiling and a budget alert</a:t>
            </a:r>
          </a:p>
        </p:txBody>
      </p:sp>
      <p:sp>
        <p:nvSpPr>
          <p:cNvPr id="15" name="TextBox 14"/>
          <p:cNvSpPr txBox="1"/>
          <p:nvPr/>
        </p:nvSpPr>
        <p:spPr>
          <a:xfrm>
            <a:off x="932688" y="4297680"/>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max instances caps the spend,</a:t>
            </a:r>
          </a:p>
          <a:p>
            <a:pPr algn="l">
              <a:lnSpc>
                <a:spcPct val="135000"/>
              </a:lnSpc>
            </a:pPr>
            <a:r>
              <a:rPr sz="1200" b="0">
                <a:solidFill>
                  <a:srgbClr val="5F6368"/>
                </a:solidFill>
                <a:latin typeface="Arial"/>
              </a:rPr>
              <a:t>the alert tells you first</a:t>
            </a:r>
          </a:p>
        </p:txBody>
      </p:sp>
      <p:sp>
        <p:nvSpPr>
          <p:cNvPr id="16" name="Rounded Rectangle 15"/>
          <p:cNvSpPr/>
          <p:nvPr/>
        </p:nvSpPr>
        <p:spPr>
          <a:xfrm>
            <a:off x="4389120" y="3639312"/>
            <a:ext cx="3429000" cy="1600200"/>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3858768"/>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Guard input and output</a:t>
            </a:r>
          </a:p>
        </p:txBody>
      </p:sp>
      <p:sp>
        <p:nvSpPr>
          <p:cNvPr id="18" name="TextBox 17"/>
          <p:cNvSpPr txBox="1"/>
          <p:nvPr/>
        </p:nvSpPr>
        <p:spPr>
          <a:xfrm>
            <a:off x="4663440" y="4297680"/>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check what comes in, and</a:t>
            </a:r>
          </a:p>
          <a:p>
            <a:pPr algn="l">
              <a:lnSpc>
                <a:spcPct val="135000"/>
              </a:lnSpc>
            </a:pPr>
            <a:r>
              <a:rPr sz="1200" b="0">
                <a:solidFill>
                  <a:srgbClr val="5F6368"/>
                </a:solidFill>
                <a:latin typeface="Arial"/>
              </a:rPr>
              <a:t>what the agent wants to do</a:t>
            </a:r>
          </a:p>
        </p:txBody>
      </p:sp>
      <p:sp>
        <p:nvSpPr>
          <p:cNvPr id="19" name="Rounded Rectangle 18"/>
          <p:cNvSpPr/>
          <p:nvPr/>
        </p:nvSpPr>
        <p:spPr>
          <a:xfrm>
            <a:off x="8119872" y="3639312"/>
            <a:ext cx="3429000" cy="160020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3858768"/>
            <a:ext cx="2880360" cy="36576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Trace every step</a:t>
            </a:r>
          </a:p>
        </p:txBody>
      </p:sp>
      <p:sp>
        <p:nvSpPr>
          <p:cNvPr id="21" name="TextBox 20"/>
          <p:cNvSpPr txBox="1"/>
          <p:nvPr/>
        </p:nvSpPr>
        <p:spPr>
          <a:xfrm>
            <a:off x="8394192" y="4297680"/>
            <a:ext cx="2880360" cy="822960"/>
          </a:xfrm>
          <a:prstGeom prst="rect">
            <a:avLst/>
          </a:prstGeom>
          <a:noFill/>
        </p:spPr>
        <p:txBody>
          <a:bodyPr wrap="square" anchor="t" lIns="0" rIns="0" tIns="0" bIns="0">
            <a:spAutoFit/>
          </a:bodyPr>
          <a:lstStyle/>
          <a:p>
            <a:pPr algn="l">
              <a:lnSpc>
                <a:spcPct val="135000"/>
              </a:lnSpc>
            </a:pPr>
            <a:r>
              <a:rPr sz="1200" b="0">
                <a:solidFill>
                  <a:srgbClr val="5F6368"/>
                </a:solidFill>
                <a:latin typeface="Arial"/>
              </a:rPr>
              <a:t>which tool, how long,</a:t>
            </a:r>
          </a:p>
          <a:p>
            <a:pPr algn="l">
              <a:lnSpc>
                <a:spcPct val="135000"/>
              </a:lnSpc>
            </a:pPr>
            <a:r>
              <a:rPr sz="1200" b="0">
                <a:solidFill>
                  <a:srgbClr val="5F6368"/>
                </a:solidFill>
                <a:latin typeface="Arial"/>
              </a:rPr>
              <a:t>how many tokens</a:t>
            </a:r>
          </a:p>
        </p:txBody>
      </p:sp>
      <p:sp>
        <p:nvSpPr>
          <p:cNvPr id="22" name="TextBox 21"/>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A public URL is </a:t>
            </a:r>
            <a:r>
              <a:rPr sz="2400" b="1">
                <a:solidFill>
                  <a:srgbClr val="202124"/>
                </a:solidFill>
                <a:latin typeface="Arial"/>
              </a:rPr>
              <a:t>a public wallet.</a:t>
            </a:r>
          </a:p>
        </p:txBody>
      </p:sp>
      <p:sp>
        <p:nvSpPr>
          <p:cNvPr id="23" name="Rectangle 22"/>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8" name="TextBox 27"/>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OPERATIONS</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What to watch once it is live</a:t>
            </a:r>
          </a:p>
        </p:txBody>
      </p:sp>
      <p:sp>
        <p:nvSpPr>
          <p:cNvPr id="4" name="Rounded Rectangle 3"/>
          <p:cNvSpPr/>
          <p:nvPr/>
        </p:nvSpPr>
        <p:spPr>
          <a:xfrm>
            <a:off x="658368" y="1874519"/>
            <a:ext cx="2514600" cy="2743200"/>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2194560"/>
            <a:ext cx="1965960" cy="822960"/>
          </a:xfrm>
          <a:prstGeom prst="rect">
            <a:avLst/>
          </a:prstGeom>
          <a:noFill/>
        </p:spPr>
        <p:txBody>
          <a:bodyPr wrap="square" anchor="t" lIns="0" rIns="0" tIns="0" bIns="0">
            <a:spAutoFit/>
          </a:bodyPr>
          <a:lstStyle/>
          <a:p>
            <a:pPr algn="l">
              <a:lnSpc>
                <a:spcPct val="105000"/>
              </a:lnSpc>
            </a:pPr>
            <a:r>
              <a:rPr sz="2200" b="1">
                <a:solidFill>
                  <a:srgbClr val="174EA6"/>
                </a:solidFill>
                <a:latin typeface="Arial"/>
              </a:rPr>
              <a:t>Latency per step</a:t>
            </a:r>
          </a:p>
        </p:txBody>
      </p:sp>
      <p:sp>
        <p:nvSpPr>
          <p:cNvPr id="6" name="TextBox 5"/>
          <p:cNvSpPr txBox="1"/>
          <p:nvPr/>
        </p:nvSpPr>
        <p:spPr>
          <a:xfrm>
            <a:off x="932688" y="3337560"/>
            <a:ext cx="1965960" cy="109728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which tool or model call is the slow one</a:t>
            </a:r>
          </a:p>
        </p:txBody>
      </p:sp>
      <p:sp>
        <p:nvSpPr>
          <p:cNvPr id="7" name="Rounded Rectangle 6"/>
          <p:cNvSpPr/>
          <p:nvPr/>
        </p:nvSpPr>
        <p:spPr>
          <a:xfrm>
            <a:off x="3447288" y="1874519"/>
            <a:ext cx="2514600" cy="2743200"/>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608" y="2194560"/>
            <a:ext cx="1965960" cy="822960"/>
          </a:xfrm>
          <a:prstGeom prst="rect">
            <a:avLst/>
          </a:prstGeom>
          <a:noFill/>
        </p:spPr>
        <p:txBody>
          <a:bodyPr wrap="square" anchor="t" lIns="0" rIns="0" tIns="0" bIns="0">
            <a:spAutoFit/>
          </a:bodyPr>
          <a:lstStyle/>
          <a:p>
            <a:pPr algn="l">
              <a:lnSpc>
                <a:spcPct val="105000"/>
              </a:lnSpc>
            </a:pPr>
            <a:r>
              <a:rPr sz="2200" b="1">
                <a:solidFill>
                  <a:srgbClr val="202124"/>
                </a:solidFill>
                <a:latin typeface="Arial"/>
              </a:rPr>
              <a:t>Tokens per turn</a:t>
            </a:r>
          </a:p>
        </p:txBody>
      </p:sp>
      <p:sp>
        <p:nvSpPr>
          <p:cNvPr id="9" name="TextBox 8"/>
          <p:cNvSpPr txBox="1"/>
          <p:nvPr/>
        </p:nvSpPr>
        <p:spPr>
          <a:xfrm>
            <a:off x="3721608" y="3337560"/>
            <a:ext cx="1965960" cy="109728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your cost, and an early sign of a bloated context</a:t>
            </a:r>
          </a:p>
        </p:txBody>
      </p:sp>
      <p:sp>
        <p:nvSpPr>
          <p:cNvPr id="10" name="Rounded Rectangle 9"/>
          <p:cNvSpPr/>
          <p:nvPr/>
        </p:nvSpPr>
        <p:spPr>
          <a:xfrm>
            <a:off x="6236208" y="1874519"/>
            <a:ext cx="2514600" cy="2743200"/>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2194560"/>
            <a:ext cx="1965960" cy="822960"/>
          </a:xfrm>
          <a:prstGeom prst="rect">
            <a:avLst/>
          </a:prstGeom>
          <a:noFill/>
        </p:spPr>
        <p:txBody>
          <a:bodyPr wrap="square" anchor="t" lIns="0" rIns="0" tIns="0" bIns="0">
            <a:spAutoFit/>
          </a:bodyPr>
          <a:lstStyle/>
          <a:p>
            <a:pPr algn="l">
              <a:lnSpc>
                <a:spcPct val="105000"/>
              </a:lnSpc>
            </a:pPr>
            <a:r>
              <a:rPr sz="2200" b="1">
                <a:solidFill>
                  <a:srgbClr val="D93025"/>
                </a:solidFill>
                <a:latin typeface="Arial"/>
              </a:rPr>
              <a:t>Tool error rate</a:t>
            </a:r>
          </a:p>
        </p:txBody>
      </p:sp>
      <p:sp>
        <p:nvSpPr>
          <p:cNvPr id="12" name="TextBox 11"/>
          <p:cNvSpPr txBox="1"/>
          <p:nvPr/>
        </p:nvSpPr>
        <p:spPr>
          <a:xfrm>
            <a:off x="6510528" y="3337560"/>
            <a:ext cx="1965960" cy="109728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an API that started saying no</a:t>
            </a:r>
          </a:p>
        </p:txBody>
      </p:sp>
      <p:sp>
        <p:nvSpPr>
          <p:cNvPr id="13" name="Rounded Rectangle 12"/>
          <p:cNvSpPr/>
          <p:nvPr/>
        </p:nvSpPr>
        <p:spPr>
          <a:xfrm>
            <a:off x="9025128" y="1874519"/>
            <a:ext cx="2514600" cy="2743200"/>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99448" y="2194560"/>
            <a:ext cx="1965960" cy="822960"/>
          </a:xfrm>
          <a:prstGeom prst="rect">
            <a:avLst/>
          </a:prstGeom>
          <a:noFill/>
        </p:spPr>
        <p:txBody>
          <a:bodyPr wrap="square" anchor="t" lIns="0" rIns="0" tIns="0" bIns="0">
            <a:spAutoFit/>
          </a:bodyPr>
          <a:lstStyle/>
          <a:p>
            <a:pPr algn="l">
              <a:lnSpc>
                <a:spcPct val="105000"/>
              </a:lnSpc>
            </a:pPr>
            <a:r>
              <a:rPr sz="2200" b="1">
                <a:solidFill>
                  <a:srgbClr val="1E8E3E"/>
                </a:solidFill>
                <a:latin typeface="Arial"/>
              </a:rPr>
              <a:t>Instance count</a:t>
            </a:r>
          </a:p>
        </p:txBody>
      </p:sp>
      <p:sp>
        <p:nvSpPr>
          <p:cNvPr id="15" name="TextBox 14"/>
          <p:cNvSpPr txBox="1"/>
          <p:nvPr/>
        </p:nvSpPr>
        <p:spPr>
          <a:xfrm>
            <a:off x="9299448" y="3337560"/>
            <a:ext cx="1965960" cy="1097280"/>
          </a:xfrm>
          <a:prstGeom prst="rect">
            <a:avLst/>
          </a:prstGeom>
          <a:noFill/>
        </p:spPr>
        <p:txBody>
          <a:bodyPr wrap="square" anchor="t" lIns="0" rIns="0" tIns="0" bIns="0">
            <a:spAutoFit/>
          </a:bodyPr>
          <a:lstStyle/>
          <a:p>
            <a:pPr algn="l">
              <a:lnSpc>
                <a:spcPct val="135000"/>
              </a:lnSpc>
            </a:pPr>
            <a:r>
              <a:rPr sz="1600" b="0">
                <a:solidFill>
                  <a:srgbClr val="5F6368"/>
                </a:solidFill>
                <a:latin typeface="Arial"/>
              </a:rPr>
              <a:t>are you near the ceiling at peak</a:t>
            </a:r>
          </a:p>
        </p:txBody>
      </p:sp>
      <p:sp>
        <p:nvSpPr>
          <p:cNvPr id="16" name="TextBox 15"/>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An average hides everything. </a:t>
            </a:r>
            <a:r>
              <a:rPr sz="2400" b="1">
                <a:solidFill>
                  <a:srgbClr val="202124"/>
                </a:solidFill>
                <a:latin typeface="Arial"/>
              </a:rPr>
              <a:t>Look at the slowest one in twenty.</a:t>
            </a:r>
          </a:p>
        </p:txBody>
      </p:sp>
      <p:sp>
        <p:nvSpPr>
          <p:cNvPr id="17" name="Rectangle 16"/>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2" name="TextBox 21"/>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MONEY</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What you actually pay for</a:t>
            </a:r>
          </a:p>
        </p:txBody>
      </p:sp>
      <p:sp>
        <p:nvSpPr>
          <p:cNvPr id="4" name="Rounded Rectangle 3"/>
          <p:cNvSpPr/>
          <p:nvPr/>
        </p:nvSpPr>
        <p:spPr>
          <a:xfrm>
            <a:off x="658368" y="1783080"/>
            <a:ext cx="10874959" cy="621792"/>
          </a:xfrm>
          <a:prstGeom prst="roundRect">
            <a:avLst>
              <a:gd name="adj" fmla="val 1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956816"/>
            <a:ext cx="3566160" cy="320040"/>
          </a:xfrm>
          <a:prstGeom prst="rect">
            <a:avLst/>
          </a:prstGeom>
          <a:noFill/>
        </p:spPr>
        <p:txBody>
          <a:bodyPr wrap="square" anchor="t" lIns="0" rIns="0" tIns="0" bIns="0">
            <a:spAutoFit/>
          </a:bodyPr>
          <a:lstStyle/>
          <a:p>
            <a:pPr algn="l">
              <a:lnSpc>
                <a:spcPct val="100000"/>
              </a:lnSpc>
            </a:pPr>
            <a:r>
              <a:rPr sz="1600" b="1">
                <a:solidFill>
                  <a:srgbClr val="1E8E3E"/>
                </a:solidFill>
                <a:latin typeface="Arial"/>
              </a:rPr>
              <a:t>Nothing while idle</a:t>
            </a:r>
          </a:p>
        </p:txBody>
      </p:sp>
      <p:sp>
        <p:nvSpPr>
          <p:cNvPr id="6" name="TextBox 5"/>
          <p:cNvSpPr txBox="1"/>
          <p:nvPr/>
        </p:nvSpPr>
        <p:spPr>
          <a:xfrm>
            <a:off x="4681728" y="1956816"/>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scaled to zero: no requests, no instances, no charge</a:t>
            </a:r>
          </a:p>
        </p:txBody>
      </p:sp>
      <p:sp>
        <p:nvSpPr>
          <p:cNvPr id="7" name="Rounded Rectangle 6"/>
          <p:cNvSpPr/>
          <p:nvPr/>
        </p:nvSpPr>
        <p:spPr>
          <a:xfrm>
            <a:off x="658368" y="2532888"/>
            <a:ext cx="10874959" cy="62179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706624"/>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Instance time</a:t>
            </a:r>
          </a:p>
        </p:txBody>
      </p:sp>
      <p:sp>
        <p:nvSpPr>
          <p:cNvPr id="9" name="TextBox 8"/>
          <p:cNvSpPr txBox="1"/>
          <p:nvPr/>
        </p:nvSpPr>
        <p:spPr>
          <a:xfrm>
            <a:off x="4681728" y="2706624"/>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only while requests are being served</a:t>
            </a:r>
          </a:p>
        </p:txBody>
      </p:sp>
      <p:sp>
        <p:nvSpPr>
          <p:cNvPr id="10" name="Rounded Rectangle 9"/>
          <p:cNvSpPr/>
          <p:nvPr/>
        </p:nvSpPr>
        <p:spPr>
          <a:xfrm>
            <a:off x="658368" y="3282696"/>
            <a:ext cx="10874959" cy="62179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456432"/>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Model tokens</a:t>
            </a:r>
          </a:p>
        </p:txBody>
      </p:sp>
      <p:sp>
        <p:nvSpPr>
          <p:cNvPr id="12" name="TextBox 11"/>
          <p:cNvSpPr txBox="1"/>
          <p:nvPr/>
        </p:nvSpPr>
        <p:spPr>
          <a:xfrm>
            <a:off x="4681728" y="3456432"/>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every step the agent takes, input and output</a:t>
            </a:r>
          </a:p>
        </p:txBody>
      </p:sp>
      <p:sp>
        <p:nvSpPr>
          <p:cNvPr id="13" name="Rounded Rectangle 12"/>
          <p:cNvSpPr/>
          <p:nvPr/>
        </p:nvSpPr>
        <p:spPr>
          <a:xfrm>
            <a:off x="658368" y="4032504"/>
            <a:ext cx="10874959" cy="621792"/>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206240"/>
            <a:ext cx="3566160" cy="320040"/>
          </a:xfrm>
          <a:prstGeom prst="rect">
            <a:avLst/>
          </a:prstGeom>
          <a:noFill/>
        </p:spPr>
        <p:txBody>
          <a:bodyPr wrap="square" anchor="t" lIns="0" rIns="0" tIns="0" bIns="0">
            <a:spAutoFit/>
          </a:bodyPr>
          <a:lstStyle/>
          <a:p>
            <a:pPr algn="l">
              <a:lnSpc>
                <a:spcPct val="100000"/>
              </a:lnSpc>
            </a:pPr>
            <a:r>
              <a:rPr sz="1600" b="1">
                <a:solidFill>
                  <a:srgbClr val="D93025"/>
                </a:solidFill>
                <a:latin typeface="Arial"/>
              </a:rPr>
              <a:t>Search grounding</a:t>
            </a:r>
          </a:p>
        </p:txBody>
      </p:sp>
      <p:sp>
        <p:nvSpPr>
          <p:cNvPr id="15" name="TextBox 14"/>
          <p:cNvSpPr txBox="1"/>
          <p:nvPr/>
        </p:nvSpPr>
        <p:spPr>
          <a:xfrm>
            <a:off x="4681728" y="4206240"/>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billed per grounded request, on top of tokens</a:t>
            </a:r>
          </a:p>
        </p:txBody>
      </p:sp>
      <p:sp>
        <p:nvSpPr>
          <p:cNvPr id="16" name="Rounded Rectangle 15"/>
          <p:cNvSpPr/>
          <p:nvPr/>
        </p:nvSpPr>
        <p:spPr>
          <a:xfrm>
            <a:off x="658368" y="4782312"/>
            <a:ext cx="10874959" cy="62179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4956048"/>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Storage</a:t>
            </a:r>
          </a:p>
        </p:txBody>
      </p:sp>
      <p:sp>
        <p:nvSpPr>
          <p:cNvPr id="18" name="TextBox 17"/>
          <p:cNvSpPr txBox="1"/>
          <p:nvPr/>
        </p:nvSpPr>
        <p:spPr>
          <a:xfrm>
            <a:off x="4681728" y="4956048"/>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a few small writes per conversation</a:t>
            </a:r>
          </a:p>
        </p:txBody>
      </p:sp>
      <p:sp>
        <p:nvSpPr>
          <p:cNvPr id="19" name="TextBox 18"/>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Load test with a cheap question. </a:t>
            </a:r>
            <a:r>
              <a:rPr sz="2400" b="1">
                <a:solidFill>
                  <a:srgbClr val="202124"/>
                </a:solidFill>
                <a:latin typeface="Arial"/>
              </a:rPr>
              <a:t>Never with the expensive one.</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THE HONEST SLIDE</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What everyone is still working out</a:t>
            </a:r>
          </a:p>
        </p:txBody>
      </p:sp>
      <p:sp>
        <p:nvSpPr>
          <p:cNvPr id="4" name="Rounded Rectangle 3"/>
          <p:cNvSpPr/>
          <p:nvPr/>
        </p:nvSpPr>
        <p:spPr>
          <a:xfrm>
            <a:off x="658368" y="1783080"/>
            <a:ext cx="10874959" cy="621792"/>
          </a:xfrm>
          <a:prstGeom prst="roundRect">
            <a:avLst>
              <a:gd name="adj" fmla="val 1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956816"/>
            <a:ext cx="3566160" cy="320040"/>
          </a:xfrm>
          <a:prstGeom prst="rect">
            <a:avLst/>
          </a:prstGeom>
          <a:noFill/>
        </p:spPr>
        <p:txBody>
          <a:bodyPr wrap="square" anchor="t" lIns="0" rIns="0" tIns="0" bIns="0">
            <a:spAutoFit/>
          </a:bodyPr>
          <a:lstStyle/>
          <a:p>
            <a:pPr algn="l">
              <a:lnSpc>
                <a:spcPct val="100000"/>
              </a:lnSpc>
            </a:pPr>
            <a:r>
              <a:rPr sz="1600" b="1">
                <a:solidFill>
                  <a:srgbClr val="174EA6"/>
                </a:solidFill>
                <a:latin typeface="Arial"/>
              </a:rPr>
              <a:t>Evaluation</a:t>
            </a:r>
          </a:p>
        </p:txBody>
      </p:sp>
      <p:sp>
        <p:nvSpPr>
          <p:cNvPr id="6" name="TextBox 5"/>
          <p:cNvSpPr txBox="1"/>
          <p:nvPr/>
        </p:nvSpPr>
        <p:spPr>
          <a:xfrm>
            <a:off x="4681728" y="1956816"/>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how to test something that answers differently each time</a:t>
            </a:r>
          </a:p>
        </p:txBody>
      </p:sp>
      <p:sp>
        <p:nvSpPr>
          <p:cNvPr id="7" name="Rounded Rectangle 6"/>
          <p:cNvSpPr/>
          <p:nvPr/>
        </p:nvSpPr>
        <p:spPr>
          <a:xfrm>
            <a:off x="658368" y="2532888"/>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706624"/>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Capacity</a:t>
            </a:r>
          </a:p>
        </p:txBody>
      </p:sp>
      <p:sp>
        <p:nvSpPr>
          <p:cNvPr id="9" name="TextBox 8"/>
          <p:cNvSpPr txBox="1"/>
          <p:nvPr/>
        </p:nvSpPr>
        <p:spPr>
          <a:xfrm>
            <a:off x="4681728" y="2706624"/>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your limit is often the model provider's, not your own</a:t>
            </a:r>
          </a:p>
        </p:txBody>
      </p:sp>
      <p:sp>
        <p:nvSpPr>
          <p:cNvPr id="10" name="Rounded Rectangle 9"/>
          <p:cNvSpPr/>
          <p:nvPr/>
        </p:nvSpPr>
        <p:spPr>
          <a:xfrm>
            <a:off x="658368" y="3282696"/>
            <a:ext cx="10874959" cy="621792"/>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456432"/>
            <a:ext cx="3566160" cy="320040"/>
          </a:xfrm>
          <a:prstGeom prst="rect">
            <a:avLst/>
          </a:prstGeom>
          <a:noFill/>
        </p:spPr>
        <p:txBody>
          <a:bodyPr wrap="square" anchor="t" lIns="0" rIns="0" tIns="0" bIns="0">
            <a:spAutoFit/>
          </a:bodyPr>
          <a:lstStyle/>
          <a:p>
            <a:pPr algn="l">
              <a:lnSpc>
                <a:spcPct val="100000"/>
              </a:lnSpc>
            </a:pPr>
            <a:r>
              <a:rPr sz="1600" b="1">
                <a:solidFill>
                  <a:srgbClr val="D93025"/>
                </a:solidFill>
                <a:latin typeface="Arial"/>
              </a:rPr>
              <a:t>Identity</a:t>
            </a:r>
          </a:p>
        </p:txBody>
      </p:sp>
      <p:sp>
        <p:nvSpPr>
          <p:cNvPr id="12" name="TextBox 11"/>
          <p:cNvSpPr txBox="1"/>
          <p:nvPr/>
        </p:nvSpPr>
        <p:spPr>
          <a:xfrm>
            <a:off x="4681728" y="3456432"/>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which agent is calling, on whose behalf, with what rights</a:t>
            </a:r>
          </a:p>
        </p:txBody>
      </p:sp>
      <p:sp>
        <p:nvSpPr>
          <p:cNvPr id="13" name="Rounded Rectangle 12"/>
          <p:cNvSpPr/>
          <p:nvPr/>
        </p:nvSpPr>
        <p:spPr>
          <a:xfrm>
            <a:off x="658368" y="4032504"/>
            <a:ext cx="10874959" cy="621792"/>
          </a:xfrm>
          <a:prstGeom prst="roundRect">
            <a:avLst>
              <a:gd name="adj" fmla="val 1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206240"/>
            <a:ext cx="3566160" cy="320040"/>
          </a:xfrm>
          <a:prstGeom prst="rect">
            <a:avLst/>
          </a:prstGeom>
          <a:noFill/>
        </p:spPr>
        <p:txBody>
          <a:bodyPr wrap="square" anchor="t" lIns="0" rIns="0" tIns="0" bIns="0">
            <a:spAutoFit/>
          </a:bodyPr>
          <a:lstStyle/>
          <a:p>
            <a:pPr algn="l">
              <a:lnSpc>
                <a:spcPct val="100000"/>
              </a:lnSpc>
            </a:pPr>
            <a:r>
              <a:rPr sz="1600" b="1">
                <a:solidFill>
                  <a:srgbClr val="202124"/>
                </a:solidFill>
                <a:latin typeface="Arial"/>
              </a:rPr>
              <a:t>Predictable cost</a:t>
            </a:r>
          </a:p>
        </p:txBody>
      </p:sp>
      <p:sp>
        <p:nvSpPr>
          <p:cNvPr id="15" name="TextBox 14"/>
          <p:cNvSpPr txBox="1"/>
          <p:nvPr/>
        </p:nvSpPr>
        <p:spPr>
          <a:xfrm>
            <a:off x="4681728" y="4206240"/>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one long session can cost as much as many short ones</a:t>
            </a:r>
          </a:p>
        </p:txBody>
      </p:sp>
      <p:sp>
        <p:nvSpPr>
          <p:cNvPr id="16" name="Rounded Rectangle 15"/>
          <p:cNvSpPr/>
          <p:nvPr/>
        </p:nvSpPr>
        <p:spPr>
          <a:xfrm>
            <a:off x="658368" y="4782312"/>
            <a:ext cx="10874959" cy="621792"/>
          </a:xfrm>
          <a:prstGeom prst="roundRect">
            <a:avLst>
              <a:gd name="adj" fmla="val 1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4956048"/>
            <a:ext cx="3566160" cy="320040"/>
          </a:xfrm>
          <a:prstGeom prst="rect">
            <a:avLst/>
          </a:prstGeom>
          <a:noFill/>
        </p:spPr>
        <p:txBody>
          <a:bodyPr wrap="square" anchor="t" lIns="0" rIns="0" tIns="0" bIns="0">
            <a:spAutoFit/>
          </a:bodyPr>
          <a:lstStyle/>
          <a:p>
            <a:pPr algn="l">
              <a:lnSpc>
                <a:spcPct val="100000"/>
              </a:lnSpc>
            </a:pPr>
            <a:r>
              <a:rPr sz="1600" b="1">
                <a:solidFill>
                  <a:srgbClr val="D93025"/>
                </a:solidFill>
                <a:latin typeface="Arial"/>
              </a:rPr>
              <a:t>Security</a:t>
            </a:r>
          </a:p>
        </p:txBody>
      </p:sp>
      <p:sp>
        <p:nvSpPr>
          <p:cNvPr id="18" name="TextBox 17"/>
          <p:cNvSpPr txBox="1"/>
          <p:nvPr/>
        </p:nvSpPr>
        <p:spPr>
          <a:xfrm>
            <a:off x="4681728" y="4956048"/>
            <a:ext cx="6577279" cy="320040"/>
          </a:xfrm>
          <a:prstGeom prst="rect">
            <a:avLst/>
          </a:prstGeom>
          <a:noFill/>
        </p:spPr>
        <p:txBody>
          <a:bodyPr wrap="square" anchor="t" lIns="0" rIns="0" tIns="0" bIns="0">
            <a:spAutoFit/>
          </a:bodyPr>
          <a:lstStyle/>
          <a:p>
            <a:pPr algn="l">
              <a:lnSpc>
                <a:spcPct val="100000"/>
              </a:lnSpc>
            </a:pPr>
            <a:r>
              <a:rPr sz="1600" b="0">
                <a:solidFill>
                  <a:srgbClr val="5F6368"/>
                </a:solidFill>
                <a:latin typeface="Arial"/>
              </a:rPr>
              <a:t>injection, tool misuse, agents trusting other agents</a:t>
            </a:r>
          </a:p>
        </p:txBody>
      </p:sp>
      <p:sp>
        <p:nvSpPr>
          <p:cNvPr id="19" name="TextBox 18"/>
          <p:cNvSpPr txBox="1"/>
          <p:nvPr/>
        </p:nvSpPr>
        <p:spPr>
          <a:xfrm>
            <a:off x="658368" y="5486400"/>
            <a:ext cx="10874959" cy="274320"/>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Security categories follow the OWASP Top 10 for Agentic Applications 2026</a:t>
            </a:r>
          </a:p>
        </p:txBody>
      </p:sp>
      <p:sp>
        <p:nvSpPr>
          <p:cNvPr id="20" name="Rectangle 1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25" name="TextBox 24"/>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6692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BEFORE YOU OPEN THE DOOR</a:t>
            </a:r>
          </a:p>
        </p:txBody>
      </p:sp>
      <p:sp>
        <p:nvSpPr>
          <p:cNvPr id="3" name="TextBox 2"/>
          <p:cNvSpPr txBox="1"/>
          <p:nvPr/>
        </p:nvSpPr>
        <p:spPr>
          <a:xfrm>
            <a:off x="658368" y="896112"/>
            <a:ext cx="10874959" cy="548640"/>
          </a:xfrm>
          <a:prstGeom prst="rect">
            <a:avLst/>
          </a:prstGeom>
          <a:noFill/>
        </p:spPr>
        <p:txBody>
          <a:bodyPr wrap="square" anchor="t" lIns="0" rIns="0" tIns="0" bIns="0">
            <a:spAutoFit/>
          </a:bodyPr>
          <a:lstStyle/>
          <a:p>
            <a:pPr algn="l">
              <a:lnSpc>
                <a:spcPct val="100000"/>
              </a:lnSpc>
            </a:pPr>
            <a:r>
              <a:rPr sz="3200" b="1">
                <a:solidFill>
                  <a:srgbClr val="202124"/>
                </a:solidFill>
                <a:latin typeface="Arial"/>
              </a:rPr>
              <a:t>A checklist you can reuse</a:t>
            </a:r>
          </a:p>
        </p:txBody>
      </p:sp>
      <p:sp>
        <p:nvSpPr>
          <p:cNvPr id="4" name="Rounded Rectangle 3"/>
          <p:cNvSpPr/>
          <p:nvPr/>
        </p:nvSpPr>
        <p:spPr>
          <a:xfrm>
            <a:off x="658368" y="1828800"/>
            <a:ext cx="5254600" cy="71323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0976" y="2066544"/>
            <a:ext cx="237744" cy="237744"/>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89888" y="2048256"/>
            <a:ext cx="4340200" cy="32004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A container, with no secrets inside</a:t>
            </a:r>
          </a:p>
        </p:txBody>
      </p:sp>
      <p:sp>
        <p:nvSpPr>
          <p:cNvPr id="7" name="Rounded Rectangle 6"/>
          <p:cNvSpPr/>
          <p:nvPr/>
        </p:nvSpPr>
        <p:spPr>
          <a:xfrm>
            <a:off x="658368" y="2697480"/>
            <a:ext cx="5254600" cy="71323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0976" y="2935224"/>
            <a:ext cx="237744" cy="237744"/>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9888" y="2916936"/>
            <a:ext cx="4340200" cy="32004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Chats live in a shared store</a:t>
            </a:r>
          </a:p>
        </p:txBody>
      </p:sp>
      <p:sp>
        <p:nvSpPr>
          <p:cNvPr id="10" name="Rounded Rectangle 9"/>
          <p:cNvSpPr/>
          <p:nvPr/>
        </p:nvSpPr>
        <p:spPr>
          <a:xfrm>
            <a:off x="658368" y="3566160"/>
            <a:ext cx="5254600" cy="71323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0976" y="3803904"/>
            <a:ext cx="237744" cy="237744"/>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8" y="3785616"/>
            <a:ext cx="4340200" cy="32004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Concurrency and max instances set on purpose</a:t>
            </a:r>
          </a:p>
        </p:txBody>
      </p:sp>
      <p:sp>
        <p:nvSpPr>
          <p:cNvPr id="13" name="Rounded Rectangle 12"/>
          <p:cNvSpPr/>
          <p:nvPr/>
        </p:nvSpPr>
        <p:spPr>
          <a:xfrm>
            <a:off x="658368" y="4434840"/>
            <a:ext cx="5254600" cy="71323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0976" y="4672584"/>
            <a:ext cx="237744" cy="237744"/>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89888" y="4654296"/>
            <a:ext cx="4340200" cy="32004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Retries around model and tool calls</a:t>
            </a:r>
          </a:p>
        </p:txBody>
      </p:sp>
      <p:sp>
        <p:nvSpPr>
          <p:cNvPr id="16" name="Rounded Rectangle 15"/>
          <p:cNvSpPr/>
          <p:nvPr/>
        </p:nvSpPr>
        <p:spPr>
          <a:xfrm>
            <a:off x="6278728" y="1828800"/>
            <a:ext cx="5254600" cy="71323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71336" y="2066544"/>
            <a:ext cx="237744" cy="237744"/>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10248" y="2048256"/>
            <a:ext cx="4340200" cy="32004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Private, or behind real sign in</a:t>
            </a:r>
          </a:p>
        </p:txBody>
      </p:sp>
      <p:sp>
        <p:nvSpPr>
          <p:cNvPr id="19" name="Rounded Rectangle 18"/>
          <p:cNvSpPr/>
          <p:nvPr/>
        </p:nvSpPr>
        <p:spPr>
          <a:xfrm>
            <a:off x="6278728" y="2697480"/>
            <a:ext cx="5254600" cy="71323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71336" y="2935224"/>
            <a:ext cx="237744" cy="237744"/>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10248" y="2916936"/>
            <a:ext cx="4340200" cy="32004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A budget alert that someone reads</a:t>
            </a:r>
          </a:p>
        </p:txBody>
      </p:sp>
      <p:sp>
        <p:nvSpPr>
          <p:cNvPr id="22" name="Rounded Rectangle 21"/>
          <p:cNvSpPr/>
          <p:nvPr/>
        </p:nvSpPr>
        <p:spPr>
          <a:xfrm>
            <a:off x="6278728" y="3566160"/>
            <a:ext cx="5254600" cy="71323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571336" y="3803904"/>
            <a:ext cx="237744" cy="237744"/>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0248" y="3785616"/>
            <a:ext cx="4340200" cy="32004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Every tool call is traced</a:t>
            </a:r>
          </a:p>
        </p:txBody>
      </p:sp>
      <p:sp>
        <p:nvSpPr>
          <p:cNvPr id="25" name="Rounded Rectangle 24"/>
          <p:cNvSpPr/>
          <p:nvPr/>
        </p:nvSpPr>
        <p:spPr>
          <a:xfrm>
            <a:off x="6278728" y="4434840"/>
            <a:ext cx="5254600" cy="713232"/>
          </a:xfrm>
          <a:prstGeom prst="roundRect">
            <a:avLst>
              <a:gd name="adj" fmla="val 1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71336" y="4672584"/>
            <a:ext cx="237744" cy="237744"/>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0248" y="4654296"/>
            <a:ext cx="4340200" cy="320040"/>
          </a:xfrm>
          <a:prstGeom prst="rect">
            <a:avLst/>
          </a:prstGeom>
          <a:noFill/>
        </p:spPr>
        <p:txBody>
          <a:bodyPr wrap="square" anchor="t" lIns="0" rIns="0" tIns="0" bIns="0">
            <a:spAutoFit/>
          </a:bodyPr>
          <a:lstStyle/>
          <a:p>
            <a:pPr algn="l">
              <a:lnSpc>
                <a:spcPct val="100000"/>
              </a:lnSpc>
            </a:pPr>
            <a:r>
              <a:rPr sz="1600" b="0">
                <a:solidFill>
                  <a:srgbClr val="202124"/>
                </a:solidFill>
                <a:latin typeface="Arial"/>
              </a:rPr>
              <a:t>Load tested with a cheap question</a:t>
            </a:r>
          </a:p>
        </p:txBody>
      </p:sp>
      <p:sp>
        <p:nvSpPr>
          <p:cNvPr id="28" name="TextBox 27"/>
          <p:cNvSpPr txBox="1"/>
          <p:nvPr/>
        </p:nvSpPr>
        <p:spPr>
          <a:xfrm>
            <a:off x="658368" y="5760720"/>
            <a:ext cx="10874959" cy="411480"/>
          </a:xfrm>
          <a:prstGeom prst="rect">
            <a:avLst/>
          </a:prstGeom>
          <a:noFill/>
        </p:spPr>
        <p:txBody>
          <a:bodyPr wrap="square" lIns="0" rIns="0" tIns="0" bIns="0">
            <a:spAutoFit/>
          </a:bodyPr>
          <a:lstStyle/>
          <a:p>
            <a:pPr algn="ctr">
              <a:lnSpc>
                <a:spcPct val="140000"/>
              </a:lnSpc>
            </a:pPr>
            <a:r>
              <a:rPr sz="2400" b="0">
                <a:solidFill>
                  <a:srgbClr val="5F6368"/>
                </a:solidFill>
                <a:latin typeface="Arial"/>
              </a:rPr>
              <a:t>Eight lines. </a:t>
            </a:r>
            <a:r>
              <a:rPr sz="2400" b="1">
                <a:solidFill>
                  <a:srgbClr val="202124"/>
                </a:solidFill>
                <a:latin typeface="Arial"/>
              </a:rPr>
              <a:t>Now let us tick them off live.</a:t>
            </a:r>
          </a:p>
        </p:txBody>
      </p:sp>
      <p:sp>
        <p:nvSpPr>
          <p:cNvPr id="29" name="Rectangle 28"/>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6291072"/>
            <a:ext cx="3657600" cy="256032"/>
          </a:xfrm>
          <a:prstGeom prst="rect">
            <a:avLst/>
          </a:prstGeom>
          <a:noFill/>
        </p:spPr>
        <p:txBody>
          <a:bodyPr wrap="square" anchor="t" lIns="0" rIns="0" tIns="0" bIns="0">
            <a:spAutoFit/>
          </a:bodyPr>
          <a:lstStyle/>
          <a:p>
            <a:pPr algn="l">
              <a:lnSpc>
                <a:spcPct val="100000"/>
              </a:lnSpc>
            </a:pPr>
            <a:r>
              <a:rPr sz="950" b="0">
                <a:solidFill>
                  <a:srgbClr val="9AA0A6"/>
                </a:solidFill>
                <a:latin typeface="Arial"/>
              </a:rPr>
              <a:t>Kiruthika Subramani</a:t>
            </a:r>
          </a:p>
        </p:txBody>
      </p:sp>
      <p:sp>
        <p:nvSpPr>
          <p:cNvPr id="34" name="TextBox 33"/>
          <p:cNvSpPr txBox="1"/>
          <p:nvPr/>
        </p:nvSpPr>
        <p:spPr>
          <a:xfrm>
            <a:off x="9704527" y="6291072"/>
            <a:ext cx="1828800" cy="256032"/>
          </a:xfrm>
          <a:prstGeom prst="rect">
            <a:avLst/>
          </a:prstGeom>
          <a:noFill/>
        </p:spPr>
        <p:txBody>
          <a:bodyPr wrap="square" anchor="t" lIns="0" rIns="0" tIns="0" bIns="0">
            <a:spAutoFit/>
          </a:bodyPr>
          <a:lstStyle/>
          <a:p>
            <a:pPr algn="r">
              <a:lnSpc>
                <a:spcPct val="100000"/>
              </a:lnSpc>
            </a:pPr>
            <a:r>
              <a:rPr sz="950" b="0">
                <a:solidFill>
                  <a:srgbClr val="9AA0A6"/>
                </a:solidFill>
                <a:latin typeface="Arial"/>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58368" y="822960"/>
            <a:ext cx="173736" cy="173736"/>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 y="822960"/>
            <a:ext cx="173736" cy="173736"/>
          </a:xfrm>
          <a:prstGeom prst="ellipse">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58368" y="1060704"/>
            <a:ext cx="173736" cy="173736"/>
          </a:xfrm>
          <a:prstGeom prst="ellipse">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96112" y="1060704"/>
            <a:ext cx="173736" cy="173736"/>
          </a:xfrm>
          <a:prstGeom prst="ellips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572768"/>
            <a:ext cx="7315200" cy="274320"/>
          </a:xfrm>
          <a:prstGeom prst="rect">
            <a:avLst/>
          </a:prstGeom>
          <a:noFill/>
        </p:spPr>
        <p:txBody>
          <a:bodyPr wrap="square" anchor="t" lIns="0" rIns="0" tIns="0" bIns="0">
            <a:spAutoFit/>
          </a:bodyPr>
          <a:lstStyle/>
          <a:p>
            <a:pPr algn="l">
              <a:lnSpc>
                <a:spcPct val="100000"/>
              </a:lnSpc>
            </a:pPr>
            <a:r>
              <a:rPr sz="950" b="1" spc="160">
                <a:solidFill>
                  <a:srgbClr val="1A73E8"/>
                </a:solidFill>
                <a:latin typeface="Arial"/>
              </a:rPr>
              <a:t>THANK YOU</a:t>
            </a:r>
          </a:p>
        </p:txBody>
      </p:sp>
      <p:sp>
        <p:nvSpPr>
          <p:cNvPr id="7" name="TextBox 6"/>
          <p:cNvSpPr txBox="1"/>
          <p:nvPr/>
        </p:nvSpPr>
        <p:spPr>
          <a:xfrm>
            <a:off x="658368" y="1993392"/>
            <a:ext cx="10789920" cy="1463040"/>
          </a:xfrm>
          <a:prstGeom prst="rect">
            <a:avLst/>
          </a:prstGeom>
          <a:noFill/>
        </p:spPr>
        <p:txBody>
          <a:bodyPr wrap="square" lIns="0" rIns="0" tIns="0" bIns="0">
            <a:spAutoFit/>
          </a:bodyPr>
          <a:lstStyle/>
          <a:p>
            <a:pPr algn="l">
              <a:lnSpc>
                <a:spcPct val="110000"/>
              </a:lnSpc>
            </a:pPr>
            <a:r>
              <a:rPr sz="4000" b="0">
                <a:solidFill>
                  <a:srgbClr val="202124"/>
                </a:solidFill>
                <a:latin typeface="Arial"/>
              </a:rPr>
              <a:t>A container makes it portable.</a:t>
            </a:r>
          </a:p>
          <a:p>
            <a:pPr algn="l">
              <a:lnSpc>
                <a:spcPct val="110000"/>
              </a:lnSpc>
            </a:pPr>
            <a:r>
              <a:rPr sz="4000" b="0">
                <a:solidFill>
                  <a:srgbClr val="202124"/>
                </a:solidFill>
                <a:latin typeface="Arial"/>
              </a:rPr>
              <a:t>A platform makes it elastic.</a:t>
            </a:r>
          </a:p>
        </p:txBody>
      </p:sp>
      <p:sp>
        <p:nvSpPr>
          <p:cNvPr id="8" name="TextBox 7"/>
          <p:cNvSpPr txBox="1"/>
          <p:nvPr/>
        </p:nvSpPr>
        <p:spPr>
          <a:xfrm>
            <a:off x="658368" y="3794760"/>
            <a:ext cx="10515600" cy="548640"/>
          </a:xfrm>
          <a:prstGeom prst="rect">
            <a:avLst/>
          </a:prstGeom>
          <a:noFill/>
        </p:spPr>
        <p:txBody>
          <a:bodyPr wrap="square" anchor="t" lIns="0" rIns="0" tIns="0" bIns="0">
            <a:spAutoFit/>
          </a:bodyPr>
          <a:lstStyle/>
          <a:p>
            <a:pPr algn="l">
              <a:lnSpc>
                <a:spcPct val="100000"/>
              </a:lnSpc>
            </a:pPr>
            <a:r>
              <a:rPr sz="3200" b="0">
                <a:solidFill>
                  <a:srgbClr val="1A73E8"/>
                </a:solidFill>
                <a:latin typeface="Arial"/>
              </a:rPr>
              <a:t>A shared store makes it remember your name.</a:t>
            </a:r>
          </a:p>
        </p:txBody>
      </p:sp>
      <p:sp>
        <p:nvSpPr>
          <p:cNvPr id="9" name="TextBox 8"/>
          <p:cNvSpPr txBox="1"/>
          <p:nvPr/>
        </p:nvSpPr>
        <p:spPr>
          <a:xfrm>
            <a:off x="658368" y="5029200"/>
            <a:ext cx="10058400" cy="822960"/>
          </a:xfrm>
          <a:prstGeom prst="rect">
            <a:avLst/>
          </a:prstGeom>
          <a:noFill/>
        </p:spPr>
        <p:txBody>
          <a:bodyPr wrap="square" anchor="t" lIns="0" rIns="0" tIns="0" bIns="0">
            <a:spAutoFit/>
          </a:bodyPr>
          <a:lstStyle/>
          <a:p>
            <a:pPr algn="l">
              <a:lnSpc>
                <a:spcPct val="135000"/>
              </a:lnSpc>
            </a:pPr>
            <a:r>
              <a:rPr sz="2400" b="0">
                <a:solidFill>
                  <a:srgbClr val="5F6368"/>
                </a:solidFill>
                <a:latin typeface="Arial"/>
              </a:rPr>
              <a:t>Delete what you deployed before you leave.</a:t>
            </a:r>
          </a:p>
          <a:p>
            <a:pPr algn="l">
              <a:lnSpc>
                <a:spcPct val="135000"/>
              </a:lnSpc>
            </a:pPr>
            <a:r>
              <a:rPr sz="2400" b="0">
                <a:solidFill>
                  <a:srgbClr val="5F6368"/>
                </a:solidFill>
                <a:latin typeface="Arial"/>
              </a:rPr>
              <a:t>Your credit card will thank you.</a:t>
            </a:r>
          </a:p>
        </p:txBody>
      </p:sp>
      <p:sp>
        <p:nvSpPr>
          <p:cNvPr id="10" name="Rectangle 9"/>
          <p:cNvSpPr/>
          <p:nvPr/>
        </p:nvSpPr>
        <p:spPr>
          <a:xfrm>
            <a:off x="0" y="6793992"/>
            <a:ext cx="3047924" cy="64008"/>
          </a:xfrm>
          <a:prstGeom prst="rect">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47924" y="6793992"/>
            <a:ext cx="3047924" cy="6400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848" y="6793992"/>
            <a:ext cx="3047924" cy="64008"/>
          </a:xfrm>
          <a:prstGeom prst="rect">
            <a:avLst/>
          </a:prstGeom>
          <a:solidFill>
            <a:srgbClr val="F9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3771" y="6793992"/>
            <a:ext cx="3047924" cy="64008"/>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